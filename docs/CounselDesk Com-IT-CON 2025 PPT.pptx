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59" r:id="rId11"/>
    <p:sldId id="260" r:id="rId12"/>
    <p:sldId id="262" r:id="rId13"/>
    <p:sldId id="261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Mulish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Quicksand" panose="00000500000000000000" pitchFamily="2" charset="0"/>
      <p:regular r:id="rId23"/>
      <p:bold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4E1DD3-89C7-4311-9636-1B4D8425D8C5}">
  <a:tblStyle styleId="{374E1DD3-89C7-4311-9636-1B4D8425D8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2687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501551B3-A2A7-A881-1D82-7C66ACF4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4918150A-D688-84E1-9339-9A88BDDB0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995E7E67-3D9A-79BA-B989-100BFCC9BE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0840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FFBA5229-A6FD-01C3-1960-A6A31825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9D2F5D83-AC56-678F-D9C1-AAAF25E44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616B7BDD-82C8-6B29-EC60-95113C59A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483E8A74-63C7-1F33-8785-DD2D3BDCA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E486935B-BE16-1D44-ED28-F4795664F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FB040F6D-BAB4-EBDB-A5A3-7147C5CBF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784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A30273A9-3B95-40BD-3854-F2D8DF4F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419BBCAF-149F-8532-A093-3C6F30805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230407AD-B758-A8F7-0C8E-0DE77D67D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231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7721542A-AFC1-BABD-A770-2AE22E67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5ED224FD-B36E-BC72-FF33-9C7FCA0F8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17CCEAD9-B257-DAF1-0416-0636B5767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451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4FF9622D-8824-0697-C81C-580F5E02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25AB3E2E-CFFC-787E-71C0-A4BED4BFF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635742A4-E59C-804E-0066-90D6BA401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358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4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Google Shape;287;p29"/>
          <p:cNvCxnSpPr/>
          <p:nvPr/>
        </p:nvCxnSpPr>
        <p:spPr>
          <a:xfrm rot="10800000" flipH="1">
            <a:off x="1609200" y="4852319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>
            <a:cxnSpLocks/>
          </p:cNvCxnSpPr>
          <p:nvPr/>
        </p:nvCxnSpPr>
        <p:spPr>
          <a:xfrm flipV="1">
            <a:off x="211270" y="1753704"/>
            <a:ext cx="0" cy="188595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151113" y="473922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8753487" y="473922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288;p29">
            <a:extLst>
              <a:ext uri="{FF2B5EF4-FFF2-40B4-BE49-F238E27FC236}">
                <a16:creationId xmlns:a16="http://schemas.microsoft.com/office/drawing/2014/main" id="{92DA20B2-B596-A794-8382-9AE83B899191}"/>
              </a:ext>
            </a:extLst>
          </p:cNvPr>
          <p:cNvCxnSpPr>
            <a:cxnSpLocks/>
          </p:cNvCxnSpPr>
          <p:nvPr/>
        </p:nvCxnSpPr>
        <p:spPr>
          <a:xfrm flipV="1">
            <a:off x="8907594" y="1582255"/>
            <a:ext cx="0" cy="188595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C4005A-A31F-9504-09A8-FC4524BB882F}"/>
              </a:ext>
            </a:extLst>
          </p:cNvPr>
          <p:cNvSpPr txBox="1"/>
          <p:nvPr/>
        </p:nvSpPr>
        <p:spPr>
          <a:xfrm>
            <a:off x="869607" y="661651"/>
            <a:ext cx="7876876" cy="11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Paper ID: 235</a:t>
            </a:r>
            <a:endParaRPr lang="en-US" dirty="0">
              <a:solidFill>
                <a:schemeClr val="bg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Paper Title: </a:t>
            </a:r>
            <a:r>
              <a:rPr lang="en-US" dirty="0" err="1"/>
              <a:t>ConselDesk</a:t>
            </a:r>
            <a:r>
              <a:rPr lang="en-US" dirty="0"/>
              <a:t>: A Web-Based Legal Assistant Platform for Automated Legal Query Resolution</a:t>
            </a: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Track/Session: </a:t>
            </a:r>
            <a:r>
              <a:rPr lang="en-IN" dirty="0"/>
              <a:t>Next Generation Computational Intelligence / AI Applications</a:t>
            </a:r>
            <a:endParaRPr lang="en-US" dirty="0">
              <a:solidFill>
                <a:schemeClr val="bg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14698-7F4E-F3C5-93C0-982F83264CB7}"/>
              </a:ext>
            </a:extLst>
          </p:cNvPr>
          <p:cNvSpPr txBox="1"/>
          <p:nvPr/>
        </p:nvSpPr>
        <p:spPr>
          <a:xfrm>
            <a:off x="1377242" y="3468205"/>
            <a:ext cx="61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Sankit Singhal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E254C3-35A1-DA99-C64D-0DE805F8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88" y="3873331"/>
            <a:ext cx="8617306" cy="384556"/>
          </a:xfrm>
        </p:spPr>
        <p:txBody>
          <a:bodyPr/>
          <a:lstStyle/>
          <a:p>
            <a:pPr algn="ctr"/>
            <a:r>
              <a:rPr lang="en-IN" sz="1800" dirty="0"/>
              <a:t>School of Engineering &amp; Technology</a:t>
            </a:r>
            <a:br>
              <a:rPr lang="en-IN" sz="1800" dirty="0"/>
            </a:br>
            <a:r>
              <a:rPr lang="en-IN" sz="1800" dirty="0"/>
              <a:t>Department of Computer Science &amp; Engineering</a:t>
            </a:r>
            <a:br>
              <a:rPr lang="en-IN" sz="1800" dirty="0"/>
            </a:br>
            <a:r>
              <a:rPr lang="en-IN" sz="1800" dirty="0"/>
              <a:t>Manav Rachna International Institute of Research and Studies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1A5C1D4-F345-8D65-2151-98D7EF5BF9FE}"/>
              </a:ext>
            </a:extLst>
          </p:cNvPr>
          <p:cNvSpPr txBox="1">
            <a:spLocks/>
          </p:cNvSpPr>
          <p:nvPr/>
        </p:nvSpPr>
        <p:spPr>
          <a:xfrm>
            <a:off x="451400" y="2785682"/>
            <a:ext cx="8617306" cy="48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algn="ctr"/>
            <a:r>
              <a:rPr lang="en-US" sz="1500" dirty="0"/>
              <a:t>International Conference on Progressive Computational Intelligence, Information Technology, and Networking (Com-IT-Con 2025)</a:t>
            </a:r>
            <a:endParaRPr lang="en-IN" sz="1500" dirty="0"/>
          </a:p>
        </p:txBody>
      </p:sp>
      <p:sp>
        <p:nvSpPr>
          <p:cNvPr id="11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8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 2025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E59C13E-D764-ED9F-2E8F-73E7D01C33D3}"/>
              </a:ext>
            </a:extLst>
          </p:cNvPr>
          <p:cNvSpPr txBox="1">
            <a:spLocks noChangeArrowheads="1"/>
          </p:cNvSpPr>
          <p:nvPr/>
        </p:nvSpPr>
        <p:spPr>
          <a:xfrm>
            <a:off x="1414669" y="221751"/>
            <a:ext cx="5635487" cy="56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-US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AE7C5013-855A-E7A1-3B82-423D7671A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727" y="689560"/>
            <a:ext cx="6140450" cy="41919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Modeling Using UML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Implementation and Experimental Results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Security &amp; Scalability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Result and Discussion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577850" lvl="1" indent="-457200"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92FE1BED-22FF-EC50-AF91-5B5BCB1DA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0990" y="445025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C38714A5-4B1A-9DEE-4B2C-F8BAAD6D1D66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7692887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crore+ cases currently pending in Indian courts (India Justice Report 2025)​</a:t>
            </a:r>
          </a:p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 15 judges per 10 lakh people (law commissions recommend 50+)​</a:t>
            </a:r>
          </a:p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consultations cost ₹2,000–₹50,000—unaffordable for most​</a:t>
            </a:r>
          </a:p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Lawyers mainly in big cities; rural areas remain underserved</a:t>
            </a:r>
          </a:p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information is scattered and full of jargon, making it hard for common citizens to understand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Millions are denied timely, affordable, and understandable legal help.</a:t>
            </a:r>
            <a:b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technology bridge this gap?</a:t>
            </a:r>
            <a:endParaRPr lang="en-US" sz="14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75618A44-D3FE-303C-311D-59DE00C3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DE036179-8208-7B09-E645-EF506C1D3D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A09AF91F-D3A4-3D6F-335A-8F29E49FF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653EB1DE-66B1-84B1-E75E-E389D6F0F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0990" y="445025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B78A49A-CF65-7B75-5150-4AA441C43F04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ConselDesk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All-in-one web platform for legal help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Modules: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Chatbot: Instantly answers user legal queries in simple language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Lawyer Discovery: Search, compare, and connect with verified lawyers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 Booking: Real-time slots &amp; secure online payments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Consultations: Meet lawyers remotely (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Integration)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Forum: Ask questions; get answers from legal experts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Dashboard: Personalized views for clients, lawyers, and admins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b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(MongoDB, Express, React, Node.js) + AI/NLP + Stripe (Payments) + 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(Video)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legal services accessible, affordable, and understandable for everyone.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95E49A-E967-64AC-4819-12E9F77D3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730" y="1175398"/>
            <a:ext cx="3591339" cy="1841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E2C0E4-2DEE-A5C2-423F-4D7D698FBEEC}"/>
              </a:ext>
            </a:extLst>
          </p:cNvPr>
          <p:cNvSpPr txBox="1"/>
          <p:nvPr/>
        </p:nvSpPr>
        <p:spPr>
          <a:xfrm>
            <a:off x="6036414" y="3036091"/>
            <a:ext cx="1947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/>
              <a:t>CounselDesk</a:t>
            </a:r>
            <a:r>
              <a:rPr lang="en-IN" sz="1200" dirty="0"/>
              <a:t> Home Page</a:t>
            </a:r>
          </a:p>
        </p:txBody>
      </p:sp>
    </p:spTree>
    <p:extLst>
      <p:ext uri="{BB962C8B-B14F-4D97-AF65-F5344CB8AC3E}">
        <p14:creationId xmlns:p14="http://schemas.microsoft.com/office/powerpoint/2010/main" val="67251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635B6B2A-0BA2-E9C2-1081-EC07821E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7586593A-C3F8-ADEA-F048-BA918670BD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A6E145A0-A03F-51D6-5A3B-E71EF99ED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7BCBC28F-494B-CE17-8CD3-17FC30FA9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8590" y="411397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676F54B-D955-9B12-2285-469677A0FA26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9E7D45-BB83-0584-654E-3615674C930F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7692887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legal consultation systems such as </a:t>
            </a:r>
            <a:r>
              <a:rPr lang="en-US" altLang="en-US" sz="14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LawRato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VakilSearch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4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LegalDesk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 online lawyer access but often lack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personalization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availability tracking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studies highlight the importance of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in law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emphasizing AI’s role in document analysis, chatbot support, and predictive legal assistance.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models have been proposed for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client–lawyer communication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many still depend on manual scheduling and limited automation.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shows that existing solutions focus more on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directory-based listings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service ecosystems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4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CounselDesk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bridges this gap by offering a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smart, integrated legal platform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combining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appointment booking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video conferencing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894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C6842C42-3952-1F59-1711-41C1996E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BA5EADBC-8646-6385-E0D7-C0C13CEBA6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11FC635B-C4AB-3903-87F5-30CB7FFA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C3181CAE-FBE2-B468-0D6D-EACDC0B2D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8590" y="411397"/>
            <a:ext cx="3326297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93CEB91-F066-00C1-7EDA-DFD940C80BD9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D1703D-2643-02A3-A6D8-5AFD348B92C6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3896793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2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CounselDesk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follows a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of:</a:t>
            </a:r>
          </a:p>
          <a:p>
            <a:pPr marL="357188" indent="-177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(Client Layer):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React.js and Tailwind CSS, providing an intuitive interface for users, lawyers, and admins.</a:t>
            </a:r>
          </a:p>
          <a:p>
            <a:pPr marL="357188" indent="-177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(Application Layer):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with Node.js and Express.js, it manages authentication, appointment scheduling, payments, and AI-driven responses.</a:t>
            </a:r>
          </a:p>
          <a:p>
            <a:pPr marL="357188" indent="-177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(Data Layer):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MongoDB for flexible, scalable data storage across user profiles, appointments, reviews, and transactions.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between layers is ensured through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 protocols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 API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payments),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file management), and </a:t>
            </a:r>
            <a:r>
              <a:rPr lang="en-US" altLang="en-US" sz="12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Meet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video consultations).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9F828-5391-D63C-B427-C15E88BE7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355" y="380815"/>
            <a:ext cx="3896793" cy="447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7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3AF04DEE-96D4-1FAF-2736-AB19C160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17B7ECE9-A009-B448-B919-FA6AFF9F04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57FEC8E0-303F-8CFA-6830-5F539D70F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A6B39406-C48E-0617-E3AF-3646D561A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8590" y="411397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Modeling Using UML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412374E-71C8-1510-2D03-7F70F9B92597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F1D39B-D063-0254-081D-57D8B0D49334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7692887" cy="35230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validate the system’s design scientifically, multiple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models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constructed during the research phase.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UML approach provides a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formal, visual representation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system behavior and structure, supporting reproducibility and clarity in research documentation.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Diagrams Developed: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1857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user–system interaction patterns, identifying research-defined roles (Client, Lawyer, Admin).</a:t>
            </a:r>
          </a:p>
          <a:p>
            <a:pPr marL="26511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1857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data schema abstraction used for model-driven design validation.</a:t>
            </a:r>
          </a:p>
          <a:p>
            <a:pPr marL="26511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1857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Capture dynamic behavior—especially the </a:t>
            </a:r>
            <a:r>
              <a:rPr lang="en-US" altLang="en-US" sz="12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 Booking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2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Lawyer Verification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workflows analyzed in the paper.</a:t>
            </a:r>
          </a:p>
          <a:p>
            <a:pPr marL="26511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1857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Maps cloud-based deployment components used to test scalability hypotheses.</a:t>
            </a:r>
          </a:p>
          <a:p>
            <a:pPr marL="26511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1857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Depicts data communication between client, server, and AI microservices, as discussed in the methodology section of the paper.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08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80DCFEB8-8F2E-7654-37D2-D2A7199B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D9D78BFB-9164-1DBF-2612-7C85F024A2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0E1AFE9D-7AE5-D681-3DD2-A82D2AE1B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E3622F5C-C311-7F11-E698-E22AC28DC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8590" y="411397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Experimental Results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54AF7BF-D946-DAA7-FA41-10728D2385BF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FDB2A3-7630-0CEF-4231-38EE99D60977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3912073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implemented using a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MERN-based architecture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integrated with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APIs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search and consultation recommendations.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Express.js, and MongoDB with secure JWT authentication and Stripe payment gateway.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React.js interface with </a:t>
            </a:r>
            <a:r>
              <a:rPr lang="en-US" alt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Framer Motion ensuring accessibility and user engagement.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Layer: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Google Gemini API integrated for legal code summarization and semantic search, verified through accuracy testing.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Deployed on </a:t>
            </a:r>
            <a:r>
              <a:rPr lang="en-US" altLang="en-US" sz="12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(Serverless Functions) and </a:t>
            </a:r>
            <a:r>
              <a:rPr lang="en-US" alt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</a:t>
            </a:r>
            <a:r>
              <a:rPr lang="en-US" alt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scalability and low latency.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FA4BF-48FD-E39E-A4B8-739374DFE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6797"/>
            <a:ext cx="4300742" cy="197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0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0CF822D5-A0B6-07CF-3848-5D187246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34A487F5-F74B-74AA-65B0-8D5DC23BAE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2" name="Google Shape;415;p32">
            <a:extLst>
              <a:ext uri="{FF2B5EF4-FFF2-40B4-BE49-F238E27FC236}">
                <a16:creationId xmlns:a16="http://schemas.microsoft.com/office/drawing/2014/main" id="{9D12903C-825C-F36F-04A0-685DAE52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42" name="Rectangle 2">
            <a:extLst>
              <a:ext uri="{FF2B5EF4-FFF2-40B4-BE49-F238E27FC236}">
                <a16:creationId xmlns:a16="http://schemas.microsoft.com/office/drawing/2014/main" id="{90EF4EEC-B08D-66F7-F273-721EDDF04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8590" y="411397"/>
            <a:ext cx="6953009" cy="5727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Scalability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A7444C6-589B-8985-B463-8112466BD51A}"/>
              </a:ext>
            </a:extLst>
          </p:cNvPr>
          <p:cNvSpPr txBox="1">
            <a:spLocks/>
          </p:cNvSpPr>
          <p:nvPr/>
        </p:nvSpPr>
        <p:spPr>
          <a:xfrm>
            <a:off x="720001" y="984097"/>
            <a:ext cx="4717774" cy="3872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061AE1-2660-9E35-318E-B1ED3B23E104}"/>
              </a:ext>
            </a:extLst>
          </p:cNvPr>
          <p:cNvSpPr txBox="1">
            <a:spLocks/>
          </p:cNvSpPr>
          <p:nvPr/>
        </p:nvSpPr>
        <p:spPr>
          <a:xfrm>
            <a:off x="934278" y="1135062"/>
            <a:ext cx="3445566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Authentication: Secure access + refresh tokens</a:t>
            </a:r>
          </a:p>
          <a:p>
            <a:r>
              <a:rPr lang="en-IN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Password Hashing: Strong password protection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 Everywhere: End-to-end encrypted communication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 Access Control: Client, Lawyer, Admin segregation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PCI DSS Compliance: No card data stored; Stripe handles all payments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 &amp; Sanitization: Defends against injection/XSS</a:t>
            </a:r>
          </a:p>
          <a:p>
            <a:r>
              <a:rPr lang="en-IN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Vulnerability Checks: Manual &amp; automated reviews</a:t>
            </a:r>
          </a:p>
          <a:p>
            <a:pPr marL="0" indent="0">
              <a:buNone/>
            </a:pPr>
            <a:endParaRPr lang="en-IN" sz="12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5D15CE7-D100-2220-C19D-3A8CE6104AEA}"/>
              </a:ext>
            </a:extLst>
          </p:cNvPr>
          <p:cNvSpPr txBox="1">
            <a:spLocks/>
          </p:cNvSpPr>
          <p:nvPr/>
        </p:nvSpPr>
        <p:spPr>
          <a:xfrm>
            <a:off x="4846350" y="1135061"/>
            <a:ext cx="3445566" cy="3523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Serverless Deployment (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 Auto-scale to match user demand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 Architecture: Any number of API functions can run in parallel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CDN Distribution: Static assets served globally, fast and reliable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 Database (MongoDB Atlas): Sharding &amp; replication for growth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Stripe, 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Cloudinary: Each service scales independently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Rate Limiting: Prevents abuse and ensures consistent performance</a:t>
            </a:r>
          </a:p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Caching: Reduces server load, faster response for users worldwide</a:t>
            </a:r>
          </a:p>
        </p:txBody>
      </p:sp>
    </p:spTree>
    <p:extLst>
      <p:ext uri="{BB962C8B-B14F-4D97-AF65-F5344CB8AC3E}">
        <p14:creationId xmlns:p14="http://schemas.microsoft.com/office/powerpoint/2010/main" val="224930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3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2FE1BED-22FF-EC50-AF91-5B5BCB1DA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91549"/>
            <a:ext cx="6682409" cy="563563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2700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00A09-4A40-730B-A73A-14F3E5AEAB00}"/>
              </a:ext>
            </a:extLst>
          </p:cNvPr>
          <p:cNvSpPr txBox="1"/>
          <p:nvPr/>
        </p:nvSpPr>
        <p:spPr>
          <a:xfrm>
            <a:off x="990600" y="7671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Successfully Implemented: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D8889-09FC-9A09-CBC3-8FAA1623BCCF}"/>
              </a:ext>
            </a:extLst>
          </p:cNvPr>
          <p:cNvSpPr txBox="1"/>
          <p:nvPr/>
        </p:nvSpPr>
        <p:spPr>
          <a:xfrm>
            <a:off x="852263" y="1074915"/>
            <a:ext cx="4404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Email/Password registration with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OAuth 2.0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(15 min access, 7-day refresh tokens)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(Client, Lawyer, Admin)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 with image uploads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CCE19-DCB5-63CD-8331-0A3FAF462B96}"/>
              </a:ext>
            </a:extLst>
          </p:cNvPr>
          <p:cNvSpPr txBox="1"/>
          <p:nvPr/>
        </p:nvSpPr>
        <p:spPr>
          <a:xfrm>
            <a:off x="852263" y="2275244"/>
            <a:ext cx="45720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Legal Chatbot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for legal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and entity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response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Multi-turn conversation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code database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 87.5% for query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3994A-1D10-8983-9A8A-3B2DD3EC6C42}"/>
              </a:ext>
            </a:extLst>
          </p:cNvPr>
          <p:cNvSpPr txBox="1"/>
          <p:nvPr/>
        </p:nvSpPr>
        <p:spPr>
          <a:xfrm>
            <a:off x="852263" y="373614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Lawyer Discovery &amp; Matching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search filters (specialization, experience, fees)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Lawyer verification system (bar council validation)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 and review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completeness 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Coverage: 50+ verified lawyers (beta)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6634-FC8C-284D-C30F-4B819C7FA8E5}"/>
              </a:ext>
            </a:extLst>
          </p:cNvPr>
          <p:cNvSpPr txBox="1"/>
          <p:nvPr/>
        </p:nvSpPr>
        <p:spPr>
          <a:xfrm>
            <a:off x="4711148" y="98409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Appointment Scheduling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slot availability calendar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slot generation (30-min intervals)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Double-booking prevention via compound indexes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with 24-hour notice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success rate: 98%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88ACA-79E1-23BB-EE73-AEF45C869B64}"/>
              </a:ext>
            </a:extLst>
          </p:cNvPr>
          <p:cNvSpPr txBox="1"/>
          <p:nvPr/>
        </p:nvSpPr>
        <p:spPr>
          <a:xfrm>
            <a:off x="4651514" y="235891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Payment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Checkout (cards, UPI, net banking)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Connect marketplace payouts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fee splitting (95% lawyer, 5% platform)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logging and audit trail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success rate: 96.8%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B1652-AD94-32B8-FF42-5B39B3A54696}"/>
              </a:ext>
            </a:extLst>
          </p:cNvPr>
          <p:cNvSpPr txBox="1"/>
          <p:nvPr/>
        </p:nvSpPr>
        <p:spPr>
          <a:xfrm>
            <a:off x="4711148" y="3559239"/>
            <a:ext cx="4641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AI Legal Tool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legal code database 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Plain-language summaries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found it helpful: 82%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7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2FE1BED-22FF-EC50-AF91-5B5BCB1DA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852" y="337931"/>
            <a:ext cx="79248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38714A5-4B1A-9DEE-4B2C-F8BAAD6D1D66}"/>
              </a:ext>
            </a:extLst>
          </p:cNvPr>
          <p:cNvSpPr txBox="1">
            <a:spLocks/>
          </p:cNvSpPr>
          <p:nvPr/>
        </p:nvSpPr>
        <p:spPr>
          <a:xfrm>
            <a:off x="940903" y="990646"/>
            <a:ext cx="7692887" cy="35230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4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CounselDesk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AI, secure authentication, and cloud technologies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revolutionize legal consultation by ensuring accessibility, transparency, and efficiency.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validates that a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microservice-based architecture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coupled with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 payments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400" b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Jitsi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video conferencing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Gemini-powered AI tools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creates a scalable and reliable ecosystem for digital legal services.</a:t>
            </a:r>
          </a:p>
          <a:p>
            <a:pPr marL="179388" indent="-17938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achieved measurable improvements in </a:t>
            </a: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satisfaction, system uptime, and transaction reliability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the core research hypothesis.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IN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US" sz="14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expand usability and accessibility across devices.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AI Legal Assistant: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generative AI for automated legal drafting and clause interpretation.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reach a broader demographic across linguistic boundaries.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Integration: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tamper-proof document verification and contract tracking.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Legal Analytics:</a:t>
            </a:r>
            <a:r>
              <a:rPr lang="en-US" altLang="en-US" sz="1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ML models for case outcome prediction and lawyer performance insights.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US" sz="14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2FE1BED-22FF-EC50-AF91-5B5BCB1DA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852" y="337931"/>
            <a:ext cx="7924800" cy="563563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2700" b="1" dirty="0">
                <a:solidFill>
                  <a:srgbClr val="B819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8714A5-4B1A-9DEE-4B2C-F8BAAD6D1D66}"/>
              </a:ext>
            </a:extLst>
          </p:cNvPr>
          <p:cNvSpPr txBox="1">
            <a:spLocks/>
          </p:cNvSpPr>
          <p:nvPr/>
        </p:nvSpPr>
        <p:spPr>
          <a:xfrm>
            <a:off x="934277" y="1135062"/>
            <a:ext cx="7692887" cy="3754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E., Web Development with Node and Express: Leveraging the JavaScript Stack, 2nd ed. O'Reilly Media, 2019.​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Banks, A. and Porcello, E., Learning React: Modern Patterns for Developing React Apps, 2nd ed. O'Reilly Media, 2020.​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I., Software Engineering, 10th ed. Pearson Education, 2016.​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 and Maxim, B. R., Software Engineering: A Practitioner's Approach, 9th ed. McGraw-Hill Education, 2020.​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Fowler, M., Patterns of Enterprise Application Architecture. Addison-Wesley Professional, 2002.​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Susskind, R., Online Courts and the Future of Justice. Oxford University Press, 2019.​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Newman, S., Building Microservices: Designing Fine-Grained Systems, 2nd ed. O'Reilly Media, 2021.​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Alarie, B., Niblett, A., and Yoon, A. H., "How Artificial Intelligence Will Affect the Practice of Law," University of Toronto Law Journal, vol. 68, no. 1, pp. 106-124, 2018.​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Surden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"Machine Learning and Law," Washington Law Review, vol. 89, no. 1, pp. 87-115, 2014.​</a:t>
            </a:r>
          </a:p>
          <a:p>
            <a:pPr marL="265113" lvl="0" indent="-265113" algn="just">
              <a:buFont typeface="+mj-lt"/>
              <a:buAutoNum type="arabicPeriod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Remus, D. and Levy, F. S., "Can Robots Be Lawyers? Computers, Lawyers, and the Practice of Law," Georgetown Journal of Legal Ethics, vol. 30, no. 3, pp. 501-558, 2017.​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9" name="Google Shape;415;p32">
            <a:extLst>
              <a:ext uri="{FF2B5EF4-FFF2-40B4-BE49-F238E27FC236}">
                <a16:creationId xmlns:a16="http://schemas.microsoft.com/office/drawing/2014/main" id="{D43FD22B-21DD-E4C0-FED0-1070C1B2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7" y="984097"/>
            <a:ext cx="441855" cy="3994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vert="vert270" lIns="76188" tIns="76188" rIns="76188" bIns="76188" anchor="ctr"/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167" dirty="0">
                <a:solidFill>
                  <a:schemeClr val="accent3"/>
                </a:solidFill>
              </a:rPr>
              <a:t>COM-IT-CON 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4BC31-80E7-62A9-7518-E28D15B51CD3}"/>
              </a:ext>
            </a:extLst>
          </p:cNvPr>
          <p:cNvSpPr txBox="1"/>
          <p:nvPr/>
        </p:nvSpPr>
        <p:spPr>
          <a:xfrm>
            <a:off x="1239802" y="652278"/>
            <a:ext cx="6186668" cy="32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Paper ID: 235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3A54F13-D857-E3AD-9E88-60D3CE5D3C04}"/>
              </a:ext>
            </a:extLst>
          </p:cNvPr>
          <p:cNvSpPr txBox="1">
            <a:spLocks noChangeArrowheads="1"/>
          </p:cNvSpPr>
          <p:nvPr/>
        </p:nvSpPr>
        <p:spPr>
          <a:xfrm>
            <a:off x="848139" y="1745129"/>
            <a:ext cx="7851913" cy="20847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0" b="1" dirty="0">
                <a:solidFill>
                  <a:srgbClr val="C00000"/>
                </a:solidFill>
                <a:latin typeface="Roboto Medium" charset="0"/>
                <a:ea typeface="Roboto Medium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1635</Words>
  <Application>Microsoft Office PowerPoint</Application>
  <PresentationFormat>On-screen Show (16:9)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Bebas Neue</vt:lpstr>
      <vt:lpstr>Roboto Medium</vt:lpstr>
      <vt:lpstr>Arial</vt:lpstr>
      <vt:lpstr>Quicksand</vt:lpstr>
      <vt:lpstr>Mulish</vt:lpstr>
      <vt:lpstr>Times New Roman</vt:lpstr>
      <vt:lpstr>Nunito Light</vt:lpstr>
      <vt:lpstr>Elegant Bachelor Thesis by Slidesgo</vt:lpstr>
      <vt:lpstr>School of Engineering &amp; Technology Department of Computer Science &amp; Engineering Manav Rachna International Institute of Research and Studies</vt:lpstr>
      <vt:lpstr>PowerPoint Presentation</vt:lpstr>
      <vt:lpstr>Introduction</vt:lpstr>
      <vt:lpstr>Introduction</vt:lpstr>
      <vt:lpstr>Literature Review</vt:lpstr>
      <vt:lpstr>System Architecture</vt:lpstr>
      <vt:lpstr>System Modeling Using UML</vt:lpstr>
      <vt:lpstr>Implementation and Experimental Results</vt:lpstr>
      <vt:lpstr>Security &amp; Scalability</vt:lpstr>
      <vt:lpstr>Result and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Manav Rachna International Institute of Research and Studies</dc:title>
  <dc:creator>Deepa Bura</dc:creator>
  <cp:lastModifiedBy>Aayush Kukreja</cp:lastModifiedBy>
  <cp:revision>19</cp:revision>
  <dcterms:modified xsi:type="dcterms:W3CDTF">2025-11-04T06:03:40Z</dcterms:modified>
</cp:coreProperties>
</file>