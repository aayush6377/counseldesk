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6" r:id="rId21"/>
    <p:sldId id="295" r:id="rId22"/>
    <p:sldId id="297" r:id="rId23"/>
    <p:sldId id="298" r:id="rId24"/>
    <p:sldId id="299" r:id="rId25"/>
    <p:sldId id="300" r:id="rId26"/>
    <p:sldId id="301" r:id="rId27"/>
    <p:sldId id="303" r:id="rId28"/>
    <p:sldId id="304" r:id="rId29"/>
    <p:sldId id="307" r:id="rId30"/>
    <p:sldId id="306" r:id="rId31"/>
    <p:sldId id="308" r:id="rId32"/>
    <p:sldId id="302" r:id="rId33"/>
  </p:sldIdLst>
  <p:sldSz cx="9144000" cy="5143500" type="screen16x9"/>
  <p:notesSz cx="6858000" cy="9144000"/>
  <p:embeddedFontLst>
    <p:embeddedFont>
      <p:font typeface="Lora" pitchFamily="2" charset="0"/>
      <p:regular r:id="rId35"/>
      <p:bold r:id="rId36"/>
      <p:italic r:id="rId37"/>
      <p:boldItalic r:id="rId38"/>
    </p:embeddedFont>
    <p:embeddedFont>
      <p:font typeface="Lora Medium" pitchFamily="2" charset="0"/>
      <p:regular r:id="rId39"/>
      <p:bold r:id="rId40"/>
      <p:italic r:id="rId41"/>
      <p:boldItalic r:id="rId42"/>
    </p:embeddedFont>
    <p:embeddedFont>
      <p:font typeface="Montserrat" panose="00000500000000000000" pitchFamily="2" charset="0"/>
      <p:regular r:id="rId43"/>
      <p:bold r:id="rId44"/>
      <p:italic r:id="rId45"/>
      <p:boldItalic r:id="rId46"/>
    </p:embeddedFont>
    <p:embeddedFont>
      <p:font typeface="Montserrat SemiBold" panose="00000700000000000000" pitchFamily="2" charset="0"/>
      <p:regular r:id="rId47"/>
      <p:bold r:id="rId48"/>
      <p:italic r:id="rId49"/>
      <p:boldItalic r:id="rId50"/>
    </p:embeddedFont>
    <p:embeddedFont>
      <p:font typeface="Open Sans Light" panose="020B0306030504020204" pitchFamily="34" charset="0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6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7"/>
    <a:srgbClr val="F4DFB7"/>
    <a:srgbClr val="D2AF74"/>
    <a:srgbClr val="002034"/>
    <a:srgbClr val="D4A255"/>
    <a:srgbClr val="C1AB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C9D1B9-FBD2-402F-A6E3-9AA7A37C1A05}">
  <a:tblStyle styleId="{BAC9D1B9-FBD2-402F-A6E3-9AA7A37C1A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F4E6D85-D315-448E-88A6-D1DFBB91C8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5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5" name="Google Shape;2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9" name="Google Shape;239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8" name="Google Shape;248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4" name="Google Shape;29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4DBEFD1-B952-971E-F470-2E92F33C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F4A43164-4C22-21D4-DA71-4FE74BC977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D019C380-0ABF-3FE5-4913-9EEBE93CC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256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D9FB75B-C198-31EB-1F06-D0655047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1B589FEA-741C-BD37-6965-3B12F54FB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4B3704B4-6459-D613-1AC5-4D93FCCD3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391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DA05481B-B1FD-6D48-DD18-A2D04BF5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>
            <a:extLst>
              <a:ext uri="{FF2B5EF4-FFF2-40B4-BE49-F238E27FC236}">
                <a16:creationId xmlns:a16="http://schemas.microsoft.com/office/drawing/2014/main" id="{8778019E-8C55-A2C6-5365-834859CA4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>
            <a:extLst>
              <a:ext uri="{FF2B5EF4-FFF2-40B4-BE49-F238E27FC236}">
                <a16:creationId xmlns:a16="http://schemas.microsoft.com/office/drawing/2014/main" id="{4A4A9A85-8C3D-FE74-3942-2329E8C85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350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7E66BF15-B510-C3A9-A251-F446C1CB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861D705F-CA98-DDA8-8532-0EA219786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7DAB57DD-53BF-1253-94EA-8C97435F5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779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DD949BA7-1717-50F7-6052-F89E892CE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DAE5C347-A30A-2332-231E-52F8EC327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D87AC20E-254F-E25B-0360-02659AA75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501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CF0D9092-3AE4-3656-2AA7-5C138DF6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23B81CB1-48E7-4FC1-0E9F-08FF96F0A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AC888E1A-ACEE-4E44-6EB0-401471AA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932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6A1B25CD-C92E-4E12-4456-98E4497D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>
            <a:extLst>
              <a:ext uri="{FF2B5EF4-FFF2-40B4-BE49-F238E27FC236}">
                <a16:creationId xmlns:a16="http://schemas.microsoft.com/office/drawing/2014/main" id="{F2427088-5769-BCA3-7CCE-79D08BF1B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>
            <a:extLst>
              <a:ext uri="{FF2B5EF4-FFF2-40B4-BE49-F238E27FC236}">
                <a16:creationId xmlns:a16="http://schemas.microsoft.com/office/drawing/2014/main" id="{665FD7AB-96A1-6423-D883-7F72E904D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565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29CBA00-D2FA-EE02-E86D-93E850E2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50888CD9-41BB-B2CA-DA55-50FC2DBB7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3FE62B32-7B20-252F-1BAD-CFFA2A239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177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990ED15-0FEE-DFF2-41D1-7F162E21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8BD0A376-465D-C741-D701-7EFAE3209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6D05C05E-65B0-8CD3-CE13-0224AF79B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864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25875106-13B2-81CB-7992-463C28A87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C22C4D62-4794-6CD4-351B-F65E80614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8425B957-517E-ED9B-0867-6876A0020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466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3D20C848-CE06-72D4-673D-FE5B191A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F997EE09-6FFF-E24E-84A2-E2075A807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FEEB1841-904B-793B-5A3F-1A357B740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026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413CFD11-DFBB-397F-27E8-51CEB72F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5DD4E161-585B-B0D1-9F65-83DFFDCFA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CBED4107-007F-CF4C-8C27-D71DD9389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7709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608D0E6E-F23C-9BE2-1DA5-66EFFBCC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>
            <a:extLst>
              <a:ext uri="{FF2B5EF4-FFF2-40B4-BE49-F238E27FC236}">
                <a16:creationId xmlns:a16="http://schemas.microsoft.com/office/drawing/2014/main" id="{70A917C3-39CF-4610-CEFC-9C15FDF4F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>
            <a:extLst>
              <a:ext uri="{FF2B5EF4-FFF2-40B4-BE49-F238E27FC236}">
                <a16:creationId xmlns:a16="http://schemas.microsoft.com/office/drawing/2014/main" id="{8CA2498C-DB1F-DE8C-5A64-1AAAB7F5D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582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D0D68050-1B85-9E77-7540-1713D13F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478D5236-6357-3E34-47F9-5259E34CE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D5A22412-CD68-52DF-AE67-05E472B62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1969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CA4316B7-FC3A-C1A3-23FA-E991513F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32A695A1-2B7C-9577-9FF9-DBE2F0CFD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93067927-76D5-0E77-8D23-2D69E6ED9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055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DE006E1-33B2-306C-EF6D-9D34B5C0E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2C7C2523-C296-DC99-D219-F40BF5044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85D64503-85C0-0315-DB10-0A1F11297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590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BDCB8572-7ACD-D3D8-2075-67E8E158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E8A99481-EFF4-03CC-1E54-B2D045F4B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B76EE513-BB01-B244-1496-19BE14CF2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3144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2D14F384-8698-B71C-A9DE-64296075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>
            <a:extLst>
              <a:ext uri="{FF2B5EF4-FFF2-40B4-BE49-F238E27FC236}">
                <a16:creationId xmlns:a16="http://schemas.microsoft.com/office/drawing/2014/main" id="{55947783-F34D-4D94-DC1C-7C18F070F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>
            <a:extLst>
              <a:ext uri="{FF2B5EF4-FFF2-40B4-BE49-F238E27FC236}">
                <a16:creationId xmlns:a16="http://schemas.microsoft.com/office/drawing/2014/main" id="{8D605DE3-E5B1-5F8A-6197-1B2952AAE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814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026C8A1-A9BB-59E9-7B4F-35E7D14F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5CDB843D-6BFB-E7AB-55D9-A9B4EBBC8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02B0D62F-6329-C394-F18D-5E94D1F22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0803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623726D9-8E33-F4D8-15C2-C03D1955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19CF0D06-9429-1BA4-89C5-0170BB9AA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856F6C02-B429-6244-FAD1-11377009F1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664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4610E828-308E-87DC-8F1C-E834C8BF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>
            <a:extLst>
              <a:ext uri="{FF2B5EF4-FFF2-40B4-BE49-F238E27FC236}">
                <a16:creationId xmlns:a16="http://schemas.microsoft.com/office/drawing/2014/main" id="{566BF937-247F-80D5-00AE-B0D99804D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>
            <a:extLst>
              <a:ext uri="{FF2B5EF4-FFF2-40B4-BE49-F238E27FC236}">
                <a16:creationId xmlns:a16="http://schemas.microsoft.com/office/drawing/2014/main" id="{4835607D-0AAF-761F-39E4-CF0A7C24F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8188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2E25CA5D-C1CF-413F-C5F6-1303137A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8D023E67-74B4-D606-9442-8B62C6D94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88E1E7F6-5146-673D-7E68-9B629711C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08375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499BFE4-D795-EEFE-39C7-C82F695E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4835B2DA-D847-5231-96A6-CB6AEDDDF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7A448B62-A04F-CE63-3DA6-B21C754CF4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8957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B485181F-3F78-949B-9C92-BF43A7F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C03831E7-99AE-2855-A33B-F6EEDDBF1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1C601336-686C-269E-7E60-35E03ACC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1969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7FD3FBF2-6F50-FD36-350A-C0AA8580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0860aa576_0_0:notes">
            <a:extLst>
              <a:ext uri="{FF2B5EF4-FFF2-40B4-BE49-F238E27FC236}">
                <a16:creationId xmlns:a16="http://schemas.microsoft.com/office/drawing/2014/main" id="{8FCC3E97-8E89-38B4-8DF0-37503E505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6" name="Google Shape;306;g110860aa576_0_0:notes">
            <a:extLst>
              <a:ext uri="{FF2B5EF4-FFF2-40B4-BE49-F238E27FC236}">
                <a16:creationId xmlns:a16="http://schemas.microsoft.com/office/drawing/2014/main" id="{3E7F80A9-533E-4192-5C98-740B5DB01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4237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7C4F7990-A4D7-9C53-CA91-BBFEFBE7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65e6465f8_1_159:notes">
            <a:extLst>
              <a:ext uri="{FF2B5EF4-FFF2-40B4-BE49-F238E27FC236}">
                <a16:creationId xmlns:a16="http://schemas.microsoft.com/office/drawing/2014/main" id="{6B7046C0-8FA9-56ED-9AAC-3629A3CE8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71" name="Google Shape;271;g2765e6465f8_1_159:notes">
            <a:extLst>
              <a:ext uri="{FF2B5EF4-FFF2-40B4-BE49-F238E27FC236}">
                <a16:creationId xmlns:a16="http://schemas.microsoft.com/office/drawing/2014/main" id="{75AD8986-398B-4087-322C-6DF2CD605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01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-225" y="0"/>
            <a:ext cx="9144000" cy="4369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2419350"/>
            <a:ext cx="4235100" cy="16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4301222"/>
            <a:ext cx="42351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533900" y="1754000"/>
            <a:ext cx="3894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>
            <a:spLocks noGrp="1"/>
          </p:cNvSpPr>
          <p:nvPr>
            <p:ph type="pic" idx="3"/>
          </p:nvPr>
        </p:nvSpPr>
        <p:spPr>
          <a:xfrm>
            <a:off x="0" y="0"/>
            <a:ext cx="4076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044719" y="2350500"/>
            <a:ext cx="30291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5070178" y="2350500"/>
            <a:ext cx="30291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1044719" y="3067775"/>
            <a:ext cx="3029100" cy="11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5070178" y="3067775"/>
            <a:ext cx="3029100" cy="11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8" name="Google Shape;28;p5"/>
          <p:cNvGrpSpPr/>
          <p:nvPr/>
        </p:nvGrpSpPr>
        <p:grpSpPr>
          <a:xfrm>
            <a:off x="0" y="6275"/>
            <a:ext cx="9144001" cy="5124224"/>
            <a:chOff x="0" y="6275"/>
            <a:chExt cx="9144001" cy="5124224"/>
          </a:xfrm>
        </p:grpSpPr>
        <p:pic>
          <p:nvPicPr>
            <p:cNvPr id="29" name="Google Shape;29;p5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>
              <a:off x="7391348" y="6275"/>
              <a:ext cx="1752653" cy="494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rot="10800000">
              <a:off x="0" y="4636375"/>
              <a:ext cx="1752602" cy="494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3" name="Google Shape;33;p6"/>
          <p:cNvGrpSpPr/>
          <p:nvPr/>
        </p:nvGrpSpPr>
        <p:grpSpPr>
          <a:xfrm>
            <a:off x="0" y="6275"/>
            <a:ext cx="9144001" cy="5124224"/>
            <a:chOff x="0" y="6275"/>
            <a:chExt cx="9144001" cy="5124224"/>
          </a:xfrm>
        </p:grpSpPr>
        <p:pic>
          <p:nvPicPr>
            <p:cNvPr id="34" name="Google Shape;34;p6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flipH="1">
              <a:off x="0" y="6275"/>
              <a:ext cx="1752653" cy="494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6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rot="10800000" flipH="1">
              <a:off x="7391399" y="4636375"/>
              <a:ext cx="1752602" cy="494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720000" y="1743075"/>
            <a:ext cx="3633000" cy="2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>
            <a:spLocks noGrp="1"/>
          </p:cNvSpPr>
          <p:nvPr>
            <p:ph type="pic" idx="2"/>
          </p:nvPr>
        </p:nvSpPr>
        <p:spPr>
          <a:xfrm>
            <a:off x="5067300" y="0"/>
            <a:ext cx="4076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39" name="Google Shape;39;p7"/>
          <p:cNvGrpSpPr/>
          <p:nvPr/>
        </p:nvGrpSpPr>
        <p:grpSpPr>
          <a:xfrm rot="-1777554" flipH="1">
            <a:off x="-3733960" y="-598065"/>
            <a:ext cx="7993786" cy="2185334"/>
            <a:chOff x="-553366" y="2927810"/>
            <a:chExt cx="6312473" cy="1756827"/>
          </a:xfrm>
        </p:grpSpPr>
        <p:sp>
          <p:nvSpPr>
            <p:cNvPr id="40" name="Google Shape;40;p7"/>
            <p:cNvSpPr/>
            <p:nvPr/>
          </p:nvSpPr>
          <p:spPr>
            <a:xfrm rot="5221006">
              <a:off x="2245370" y="794418"/>
              <a:ext cx="901093" cy="5450310"/>
            </a:xfrm>
            <a:custGeom>
              <a:avLst/>
              <a:gdLst/>
              <a:ahLst/>
              <a:cxnLst/>
              <a:rect l="l" t="t" r="r" b="b"/>
              <a:pathLst>
                <a:path w="18721" h="113235" fill="none" extrusionOk="0">
                  <a:moveTo>
                    <a:pt x="0" y="113235"/>
                  </a:moveTo>
                  <a:lnTo>
                    <a:pt x="18721" y="1"/>
                  </a:lnTo>
                </a:path>
              </a:pathLst>
            </a:custGeom>
            <a:noFill/>
            <a:ln w="4775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7"/>
            <p:cNvSpPr/>
            <p:nvPr/>
          </p:nvSpPr>
          <p:spPr>
            <a:xfrm rot="5221006">
              <a:off x="2227412" y="802733"/>
              <a:ext cx="916206" cy="5541184"/>
            </a:xfrm>
            <a:custGeom>
              <a:avLst/>
              <a:gdLst/>
              <a:ahLst/>
              <a:cxnLst/>
              <a:rect l="l" t="t" r="r" b="b"/>
              <a:pathLst>
                <a:path w="19035" h="115123" fill="none" extrusionOk="0">
                  <a:moveTo>
                    <a:pt x="1" y="115123"/>
                  </a:moveTo>
                  <a:lnTo>
                    <a:pt x="19035" y="0"/>
                  </a:lnTo>
                </a:path>
              </a:pathLst>
            </a:custGeom>
            <a:noFill/>
            <a:ln w="4300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7"/>
            <p:cNvSpPr/>
            <p:nvPr/>
          </p:nvSpPr>
          <p:spPr>
            <a:xfrm rot="5221006">
              <a:off x="2209639" y="811496"/>
              <a:ext cx="931320" cy="5631818"/>
            </a:xfrm>
            <a:custGeom>
              <a:avLst/>
              <a:gdLst/>
              <a:ahLst/>
              <a:cxnLst/>
              <a:rect l="l" t="t" r="r" b="b"/>
              <a:pathLst>
                <a:path w="19349" h="117006" fill="none" extrusionOk="0">
                  <a:moveTo>
                    <a:pt x="0" y="117006"/>
                  </a:moveTo>
                  <a:lnTo>
                    <a:pt x="19348" y="1"/>
                  </a:lnTo>
                </a:path>
              </a:pathLst>
            </a:custGeom>
            <a:noFill/>
            <a:ln w="3850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7"/>
            <p:cNvSpPr/>
            <p:nvPr/>
          </p:nvSpPr>
          <p:spPr>
            <a:xfrm rot="5221006">
              <a:off x="2191674" y="819819"/>
              <a:ext cx="946145" cy="5722404"/>
            </a:xfrm>
            <a:custGeom>
              <a:avLst/>
              <a:gdLst/>
              <a:ahLst/>
              <a:cxnLst/>
              <a:rect l="l" t="t" r="r" b="b"/>
              <a:pathLst>
                <a:path w="19657" h="118888" fill="none" extrusionOk="0">
                  <a:moveTo>
                    <a:pt x="1" y="118888"/>
                  </a:moveTo>
                  <a:lnTo>
                    <a:pt x="19656" y="0"/>
                  </a:lnTo>
                </a:path>
              </a:pathLst>
            </a:custGeom>
            <a:noFill/>
            <a:ln w="3375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7"/>
            <p:cNvSpPr/>
            <p:nvPr/>
          </p:nvSpPr>
          <p:spPr>
            <a:xfrm rot="5221006">
              <a:off x="2174061" y="828414"/>
              <a:ext cx="960922" cy="5813038"/>
            </a:xfrm>
            <a:custGeom>
              <a:avLst/>
              <a:gdLst/>
              <a:ahLst/>
              <a:cxnLst/>
              <a:rect l="l" t="t" r="r" b="b"/>
              <a:pathLst>
                <a:path w="19964" h="120771" fill="none" extrusionOk="0">
                  <a:moveTo>
                    <a:pt x="0" y="120771"/>
                  </a:moveTo>
                  <a:lnTo>
                    <a:pt x="19963" y="1"/>
                  </a:lnTo>
                </a:path>
              </a:pathLst>
            </a:custGeom>
            <a:noFill/>
            <a:ln w="2925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7"/>
            <p:cNvSpPr/>
            <p:nvPr/>
          </p:nvSpPr>
          <p:spPr>
            <a:xfrm rot="5221006">
              <a:off x="2155942" y="836851"/>
              <a:ext cx="976324" cy="5903961"/>
            </a:xfrm>
            <a:custGeom>
              <a:avLst/>
              <a:gdLst/>
              <a:ahLst/>
              <a:cxnLst/>
              <a:rect l="l" t="t" r="r" b="b"/>
              <a:pathLst>
                <a:path w="20284" h="122660" fill="none" extrusionOk="0">
                  <a:moveTo>
                    <a:pt x="1" y="122659"/>
                  </a:moveTo>
                  <a:lnTo>
                    <a:pt x="20284" y="0"/>
                  </a:lnTo>
                </a:path>
              </a:pathLst>
            </a:custGeom>
            <a:noFill/>
            <a:ln w="2450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7"/>
            <p:cNvSpPr/>
            <p:nvPr/>
          </p:nvSpPr>
          <p:spPr>
            <a:xfrm rot="5221006">
              <a:off x="2138201" y="845325"/>
              <a:ext cx="991390" cy="5994546"/>
            </a:xfrm>
            <a:custGeom>
              <a:avLst/>
              <a:gdLst/>
              <a:ahLst/>
              <a:cxnLst/>
              <a:rect l="l" t="t" r="r" b="b"/>
              <a:pathLst>
                <a:path w="20597" h="124542" fill="none" extrusionOk="0">
                  <a:moveTo>
                    <a:pt x="0" y="124542"/>
                  </a:moveTo>
                  <a:lnTo>
                    <a:pt x="20597" y="1"/>
                  </a:lnTo>
                </a:path>
              </a:pathLst>
            </a:custGeom>
            <a:noFill/>
            <a:ln w="2000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 rot="5221006">
              <a:off x="2120372" y="853760"/>
              <a:ext cx="1006263" cy="6085517"/>
            </a:xfrm>
            <a:custGeom>
              <a:avLst/>
              <a:gdLst/>
              <a:ahLst/>
              <a:cxnLst/>
              <a:rect l="l" t="t" r="r" b="b"/>
              <a:pathLst>
                <a:path w="20906" h="126432" fill="none" extrusionOk="0">
                  <a:moveTo>
                    <a:pt x="1" y="126431"/>
                  </a:moveTo>
                  <a:lnTo>
                    <a:pt x="20905" y="1"/>
                  </a:lnTo>
                </a:path>
              </a:pathLst>
            </a:custGeom>
            <a:noFill/>
            <a:ln w="1375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 rot="5221006">
              <a:off x="2102558" y="862212"/>
              <a:ext cx="1021377" cy="6176103"/>
            </a:xfrm>
            <a:custGeom>
              <a:avLst/>
              <a:gdLst/>
              <a:ahLst/>
              <a:cxnLst/>
              <a:rect l="l" t="t" r="r" b="b"/>
              <a:pathLst>
                <a:path w="21220" h="128314" fill="none" extrusionOk="0">
                  <a:moveTo>
                    <a:pt x="1" y="128313"/>
                  </a:moveTo>
                  <a:lnTo>
                    <a:pt x="21219" y="0"/>
                  </a:lnTo>
                </a:path>
              </a:pathLst>
            </a:custGeom>
            <a:noFill/>
            <a:ln w="925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 rot="5221006">
              <a:off x="2084649" y="870526"/>
              <a:ext cx="1036442" cy="6267026"/>
            </a:xfrm>
            <a:custGeom>
              <a:avLst/>
              <a:gdLst/>
              <a:ahLst/>
              <a:cxnLst/>
              <a:rect l="l" t="t" r="r" b="b"/>
              <a:pathLst>
                <a:path w="21533" h="130203" fill="none" extrusionOk="0">
                  <a:moveTo>
                    <a:pt x="0" y="130202"/>
                  </a:moveTo>
                  <a:lnTo>
                    <a:pt x="21532" y="1"/>
                  </a:lnTo>
                </a:path>
              </a:pathLst>
            </a:custGeom>
            <a:noFill/>
            <a:ln w="450" cap="flat" cmpd="sng">
              <a:solidFill>
                <a:schemeClr val="lt2"/>
              </a:solidFill>
              <a:prstDash val="solid"/>
              <a:miter lim="615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41778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997300" y="1477650"/>
            <a:ext cx="3431400" cy="21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53" name="Google Shape;53;p8"/>
          <p:cNvSpPr>
            <a:spLocks noGrp="1"/>
          </p:cNvSpPr>
          <p:nvPr>
            <p:ph type="pic" idx="2"/>
          </p:nvPr>
        </p:nvSpPr>
        <p:spPr>
          <a:xfrm>
            <a:off x="0" y="0"/>
            <a:ext cx="4076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15100" y="1481875"/>
            <a:ext cx="34467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715137" y="2427725"/>
            <a:ext cx="3446700" cy="12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067300" y="0"/>
            <a:ext cx="4076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 hasCustomPrompt="1"/>
          </p:nvPr>
        </p:nvSpPr>
        <p:spPr>
          <a:xfrm>
            <a:off x="1399475" y="14046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2" hasCustomPrompt="1"/>
          </p:nvPr>
        </p:nvSpPr>
        <p:spPr>
          <a:xfrm>
            <a:off x="1399475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3" hasCustomPrompt="1"/>
          </p:nvPr>
        </p:nvSpPr>
        <p:spPr>
          <a:xfrm>
            <a:off x="4204650" y="14046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5" hasCustomPrompt="1"/>
          </p:nvPr>
        </p:nvSpPr>
        <p:spPr>
          <a:xfrm>
            <a:off x="7018825" y="14046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6" hasCustomPrompt="1"/>
          </p:nvPr>
        </p:nvSpPr>
        <p:spPr>
          <a:xfrm>
            <a:off x="7018825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Lora"/>
              <a:buNone/>
              <a:defRPr sz="3000" b="0"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09925" y="1984475"/>
            <a:ext cx="2113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3515100" y="1984475"/>
            <a:ext cx="2113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6337075" y="1984475"/>
            <a:ext cx="2098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9"/>
          </p:nvPr>
        </p:nvSpPr>
        <p:spPr>
          <a:xfrm>
            <a:off x="709925" y="3646550"/>
            <a:ext cx="2113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3524700" y="3646550"/>
            <a:ext cx="20946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6337075" y="3646550"/>
            <a:ext cx="2098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 SemiBold"/>
              <a:buNone/>
              <a:defRPr sz="20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2">
            <a:alphaModFix/>
          </a:blip>
          <a:srcRect t="6290" b="-2324"/>
          <a:stretch/>
        </p:blipFill>
        <p:spPr>
          <a:xfrm>
            <a:off x="7420217" y="0"/>
            <a:ext cx="1723781" cy="67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2">
            <a:alphaModFix/>
          </a:blip>
          <a:srcRect t="6290" b="-2324"/>
          <a:stretch/>
        </p:blipFill>
        <p:spPr>
          <a:xfrm flipH="1">
            <a:off x="-8" y="0"/>
            <a:ext cx="1723781" cy="67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3"/>
          <p:cNvGrpSpPr/>
          <p:nvPr/>
        </p:nvGrpSpPr>
        <p:grpSpPr>
          <a:xfrm>
            <a:off x="0" y="6275"/>
            <a:ext cx="9144001" cy="5124224"/>
            <a:chOff x="0" y="6275"/>
            <a:chExt cx="9144001" cy="5124224"/>
          </a:xfrm>
        </p:grpSpPr>
        <p:pic>
          <p:nvPicPr>
            <p:cNvPr id="197" name="Google Shape;197;p23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flipH="1">
              <a:off x="0" y="6275"/>
              <a:ext cx="1752653" cy="494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3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rot="10800000" flipH="1">
              <a:off x="7391399" y="4636375"/>
              <a:ext cx="1752602" cy="494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4"/>
          <p:cNvGrpSpPr/>
          <p:nvPr/>
        </p:nvGrpSpPr>
        <p:grpSpPr>
          <a:xfrm>
            <a:off x="-8" y="0"/>
            <a:ext cx="9144006" cy="678901"/>
            <a:chOff x="-8" y="0"/>
            <a:chExt cx="9144006" cy="678901"/>
          </a:xfrm>
        </p:grpSpPr>
        <p:pic>
          <p:nvPicPr>
            <p:cNvPr id="201" name="Google Shape;201;p24"/>
            <p:cNvPicPr preferRelativeResize="0"/>
            <p:nvPr/>
          </p:nvPicPr>
          <p:blipFill rotWithShape="1">
            <a:blip r:embed="rId2">
              <a:alphaModFix/>
            </a:blip>
            <a:srcRect t="6290" b="-2324"/>
            <a:stretch/>
          </p:blipFill>
          <p:spPr>
            <a:xfrm>
              <a:off x="7420217" y="0"/>
              <a:ext cx="1723781" cy="678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4"/>
            <p:cNvPicPr preferRelativeResize="0"/>
            <p:nvPr/>
          </p:nvPicPr>
          <p:blipFill rotWithShape="1">
            <a:blip r:embed="rId2">
              <a:alphaModFix/>
            </a:blip>
            <a:srcRect t="6290" b="-2324"/>
            <a:stretch/>
          </p:blipFill>
          <p:spPr>
            <a:xfrm flipH="1">
              <a:off x="-8" y="0"/>
              <a:ext cx="1723781" cy="6789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5"/>
          <p:cNvGrpSpPr/>
          <p:nvPr/>
        </p:nvGrpSpPr>
        <p:grpSpPr>
          <a:xfrm flipH="1">
            <a:off x="0" y="6275"/>
            <a:ext cx="9144001" cy="5124224"/>
            <a:chOff x="0" y="6275"/>
            <a:chExt cx="9144001" cy="5124224"/>
          </a:xfrm>
        </p:grpSpPr>
        <p:pic>
          <p:nvPicPr>
            <p:cNvPr id="205" name="Google Shape;205;p25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flipH="1">
              <a:off x="0" y="6275"/>
              <a:ext cx="1752653" cy="494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5"/>
            <p:cNvPicPr preferRelativeResize="0"/>
            <p:nvPr/>
          </p:nvPicPr>
          <p:blipFill rotWithShape="1">
            <a:blip r:embed="rId2">
              <a:alphaModFix/>
            </a:blip>
            <a:srcRect l="52915" t="5375" r="2190" b="72123"/>
            <a:stretch/>
          </p:blipFill>
          <p:spPr>
            <a:xfrm rot="10800000" flipH="1">
              <a:off x="7391399" y="4636375"/>
              <a:ext cx="1752602" cy="4941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■"/>
              <a:defRPr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hyperlink" Target="https://pixabay.com/en/blockchain-block-chain-technology-3019120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hyperlink" Target="https://pxhere.com/en/photo/1453635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hyperlink" Target="https://blog.kagesenshi.org/2021/02/migrate-to-github.html" TargetMode="External"/><Relationship Id="rId9" Type="http://schemas.openxmlformats.org/officeDocument/2006/relationships/hyperlink" Target="https://creativecommons.org/licenses/by/3.0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8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hyperlink" Target="https://pixabay.com/en/meeting-relationship-business-1019744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Aayush6377/CounselDesk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ounsel-desk.vercel.app/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2418" r="3119" b="18127"/>
          <a:stretch/>
        </p:blipFill>
        <p:spPr>
          <a:xfrm>
            <a:off x="-225" y="0"/>
            <a:ext cx="9144000" cy="4369200"/>
          </a:xfrm>
          <a:prstGeom prst="snip2DiagRect">
            <a:avLst>
              <a:gd name="adj1" fmla="val 0"/>
              <a:gd name="adj2" fmla="val 19615"/>
            </a:avLst>
          </a:prstGeom>
        </p:spPr>
      </p:pic>
      <p:grpSp>
        <p:nvGrpSpPr>
          <p:cNvPr id="218" name="Google Shape;218;p29"/>
          <p:cNvGrpSpPr/>
          <p:nvPr/>
        </p:nvGrpSpPr>
        <p:grpSpPr>
          <a:xfrm>
            <a:off x="-1909716" y="-855076"/>
            <a:ext cx="11171404" cy="6421707"/>
            <a:chOff x="-1909716" y="-855076"/>
            <a:chExt cx="11171404" cy="6421707"/>
          </a:xfrm>
        </p:grpSpPr>
        <p:grpSp>
          <p:nvGrpSpPr>
            <p:cNvPr id="219" name="Google Shape;219;p29"/>
            <p:cNvGrpSpPr/>
            <p:nvPr/>
          </p:nvGrpSpPr>
          <p:grpSpPr>
            <a:xfrm rot="1180837">
              <a:off x="-1727850" y="878506"/>
              <a:ext cx="10807672" cy="2954542"/>
              <a:chOff x="-553366" y="2927810"/>
              <a:chExt cx="6312473" cy="1756827"/>
            </a:xfrm>
          </p:grpSpPr>
          <p:sp>
            <p:nvSpPr>
              <p:cNvPr id="220" name="Google Shape;220;p29"/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9"/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9"/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9"/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9"/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9"/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9"/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9"/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9"/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29"/>
            <p:cNvGrpSpPr/>
            <p:nvPr/>
          </p:nvGrpSpPr>
          <p:grpSpPr>
            <a:xfrm>
              <a:off x="0" y="774300"/>
              <a:ext cx="9144003" cy="4369200"/>
              <a:chOff x="0" y="774300"/>
              <a:chExt cx="9144003" cy="4369200"/>
            </a:xfrm>
          </p:grpSpPr>
          <p:pic>
            <p:nvPicPr>
              <p:cNvPr id="231" name="Google Shape;231;p29"/>
              <p:cNvPicPr preferRelativeResize="0"/>
              <p:nvPr/>
            </p:nvPicPr>
            <p:blipFill rotWithShape="1">
              <a:blip r:embed="rId4">
                <a:alphaModFix/>
              </a:blip>
              <a:srcRect t="14383"/>
              <a:stretch/>
            </p:blipFill>
            <p:spPr>
              <a:xfrm>
                <a:off x="0" y="1219200"/>
                <a:ext cx="9144003" cy="3924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2" name="Google Shape;232;p29"/>
              <p:cNvPicPr preferRelativeResize="0"/>
              <p:nvPr/>
            </p:nvPicPr>
            <p:blipFill rotWithShape="1">
              <a:blip r:embed="rId5">
                <a:alphaModFix/>
              </a:blip>
              <a:srcRect t="15052"/>
              <a:stretch/>
            </p:blipFill>
            <p:spPr>
              <a:xfrm>
                <a:off x="0" y="774300"/>
                <a:ext cx="9144003" cy="43691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33" name="Google Shape;233;p29"/>
          <p:cNvSpPr txBox="1">
            <a:spLocks noGrp="1"/>
          </p:cNvSpPr>
          <p:nvPr>
            <p:ph type="subTitle" idx="1"/>
          </p:nvPr>
        </p:nvSpPr>
        <p:spPr>
          <a:xfrm>
            <a:off x="618295" y="4253692"/>
            <a:ext cx="3181336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rgbClr val="F4DFB7"/>
                </a:solidFill>
              </a:rPr>
              <a:t>AI-Powered</a:t>
            </a:r>
            <a:r>
              <a:rPr lang="en-US" dirty="0"/>
              <a:t> </a:t>
            </a:r>
            <a:r>
              <a:rPr lang="en-US" dirty="0">
                <a:solidFill>
                  <a:srgbClr val="D4A255"/>
                </a:solidFill>
              </a:rPr>
              <a:t>Legal</a:t>
            </a:r>
            <a:r>
              <a:rPr lang="en-US" dirty="0"/>
              <a:t> </a:t>
            </a:r>
            <a:r>
              <a:rPr lang="en-US" dirty="0">
                <a:solidFill>
                  <a:srgbClr val="F4DFB7"/>
                </a:solidFill>
              </a:rPr>
              <a:t>Services</a:t>
            </a:r>
            <a:r>
              <a:rPr lang="en-US" dirty="0"/>
              <a:t> </a:t>
            </a:r>
            <a:r>
              <a:rPr lang="en-US" dirty="0">
                <a:solidFill>
                  <a:srgbClr val="D4A255"/>
                </a:solidFill>
              </a:rPr>
              <a:t>Platform</a:t>
            </a:r>
            <a:endParaRPr dirty="0">
              <a:solidFill>
                <a:srgbClr val="D4A255"/>
              </a:solidFill>
            </a:endParaRPr>
          </a:p>
        </p:txBody>
      </p:sp>
      <p:sp>
        <p:nvSpPr>
          <p:cNvPr id="234" name="Google Shape;234;p29"/>
          <p:cNvSpPr txBox="1">
            <a:spLocks noGrp="1"/>
          </p:cNvSpPr>
          <p:nvPr>
            <p:ph type="ctrTitle"/>
          </p:nvPr>
        </p:nvSpPr>
        <p:spPr>
          <a:xfrm>
            <a:off x="407094" y="3533211"/>
            <a:ext cx="3748585" cy="6513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F4DFB7"/>
                </a:solidFill>
              </a:rPr>
              <a:t>Counsel</a:t>
            </a:r>
            <a:r>
              <a:rPr lang="en-US" dirty="0">
                <a:solidFill>
                  <a:srgbClr val="D4A255"/>
                </a:solidFill>
              </a:rPr>
              <a:t>Desk</a:t>
            </a:r>
          </a:p>
        </p:txBody>
      </p:sp>
      <p:cxnSp>
        <p:nvCxnSpPr>
          <p:cNvPr id="235" name="Google Shape;235;p29"/>
          <p:cNvCxnSpPr>
            <a:cxnSpLocks/>
          </p:cNvCxnSpPr>
          <p:nvPr/>
        </p:nvCxnSpPr>
        <p:spPr>
          <a:xfrm>
            <a:off x="437963" y="4249681"/>
            <a:ext cx="365636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6" name="Google Shape;236;p29"/>
          <p:cNvPicPr preferRelativeResize="0"/>
          <p:nvPr/>
        </p:nvPicPr>
        <p:blipFill rotWithShape="1">
          <a:blip r:embed="rId6">
            <a:alphaModFix/>
          </a:blip>
          <a:srcRect t="6290" b="-2324"/>
          <a:stretch/>
        </p:blipFill>
        <p:spPr>
          <a:xfrm>
            <a:off x="6048375" y="0"/>
            <a:ext cx="3095624" cy="121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A14CE7-95B4-4A67-4C1A-746D3ABDE2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9442" y="2486754"/>
            <a:ext cx="1080581" cy="1013425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537512-03D9-0474-5049-E6726B0EE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855" y="251867"/>
            <a:ext cx="1865787" cy="712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4C0E8-88DE-8624-AF54-4A361ACC5572}"/>
              </a:ext>
            </a:extLst>
          </p:cNvPr>
          <p:cNvSpPr txBox="1"/>
          <p:nvPr/>
        </p:nvSpPr>
        <p:spPr>
          <a:xfrm>
            <a:off x="1873155" y="1056535"/>
            <a:ext cx="5152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D4A255"/>
                </a:solidFill>
                <a:latin typeface="Montserrat" panose="00000500000000000000" pitchFamily="2" charset="0"/>
              </a:rPr>
              <a:t>Project Phase - II Presentation</a:t>
            </a:r>
          </a:p>
        </p:txBody>
      </p:sp>
      <p:sp>
        <p:nvSpPr>
          <p:cNvPr id="7" name="Google Shape;243;p30">
            <a:extLst>
              <a:ext uri="{FF2B5EF4-FFF2-40B4-BE49-F238E27FC236}">
                <a16:creationId xmlns:a16="http://schemas.microsoft.com/office/drawing/2014/main" id="{C170BFEF-FCB7-76E8-B41C-52BDAF2ED077}"/>
              </a:ext>
            </a:extLst>
          </p:cNvPr>
          <p:cNvSpPr txBox="1"/>
          <p:nvPr/>
        </p:nvSpPr>
        <p:spPr>
          <a:xfrm>
            <a:off x="597170" y="1518200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F4DFB7"/>
                </a:solidFill>
                <a:latin typeface="Lora Medium"/>
                <a:ea typeface="Lora Medium"/>
                <a:cs typeface="Lora Medium"/>
                <a:sym typeface="Lora Medium"/>
              </a:rPr>
              <a:t>Presented By</a:t>
            </a:r>
            <a:endParaRPr sz="1200" dirty="0">
              <a:solidFill>
                <a:srgbClr val="F4DFB7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4D5F0B-FB41-2939-0F7D-E27816C49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366970"/>
              </p:ext>
            </p:extLst>
          </p:nvPr>
        </p:nvGraphicFramePr>
        <p:xfrm>
          <a:off x="2226324" y="1888100"/>
          <a:ext cx="4445691" cy="1807625"/>
        </p:xfrm>
        <a:graphic>
          <a:graphicData uri="http://schemas.openxmlformats.org/drawingml/2006/table">
            <a:tbl>
              <a:tblPr>
                <a:noFill/>
                <a:tableStyleId>{BAC9D1B9-FBD2-402F-A6E3-9AA7A37C1A05}</a:tableStyleId>
              </a:tblPr>
              <a:tblGrid>
                <a:gridCol w="1801883">
                  <a:extLst>
                    <a:ext uri="{9D8B030D-6E8A-4147-A177-3AD203B41FA5}">
                      <a16:colId xmlns:a16="http://schemas.microsoft.com/office/drawing/2014/main" val="265812233"/>
                    </a:ext>
                  </a:extLst>
                </a:gridCol>
                <a:gridCol w="1802296">
                  <a:extLst>
                    <a:ext uri="{9D8B030D-6E8A-4147-A177-3AD203B41FA5}">
                      <a16:colId xmlns:a16="http://schemas.microsoft.com/office/drawing/2014/main" val="143812739"/>
                    </a:ext>
                  </a:extLst>
                </a:gridCol>
                <a:gridCol w="841512">
                  <a:extLst>
                    <a:ext uri="{9D8B030D-6E8A-4147-A177-3AD203B41FA5}">
                      <a16:colId xmlns:a16="http://schemas.microsoft.com/office/drawing/2014/main" val="33752291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Name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Roll No.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Class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44559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Sushil Gupta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1/22/FET/BCS/132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7CSE C1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083146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Sankit Singhal 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1/22/FET/BCS/148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7CSE C1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773328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Aayush Kukreja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1/22/FET/BCS/159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7CSE C1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22056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Rahul Kumar Mandal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Lora Medium" pitchFamily="2" charset="0"/>
                        </a:rPr>
                        <a:t>23/SET/CS(L)/010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7CSE C2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426568"/>
                  </a:ext>
                </a:extLst>
              </a:tr>
            </a:tbl>
          </a:graphicData>
        </a:graphic>
      </p:graphicFrame>
      <p:sp>
        <p:nvSpPr>
          <p:cNvPr id="10" name="Google Shape;243;p30">
            <a:extLst>
              <a:ext uri="{FF2B5EF4-FFF2-40B4-BE49-F238E27FC236}">
                <a16:creationId xmlns:a16="http://schemas.microsoft.com/office/drawing/2014/main" id="{972A5F03-BC35-4879-6AA0-7B5DA0628F6F}"/>
              </a:ext>
            </a:extLst>
          </p:cNvPr>
          <p:cNvSpPr txBox="1"/>
          <p:nvPr/>
        </p:nvSpPr>
        <p:spPr>
          <a:xfrm>
            <a:off x="661748" y="3762608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F4DFB7"/>
                </a:solidFill>
                <a:latin typeface="Lora Medium"/>
                <a:ea typeface="Lora Medium"/>
                <a:cs typeface="Lora Medium"/>
                <a:sym typeface="Lora Medium"/>
              </a:rPr>
              <a:t>Under the Guidance of</a:t>
            </a:r>
            <a:endParaRPr sz="1200" dirty="0">
              <a:solidFill>
                <a:srgbClr val="F4DFB7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" name="Google Shape;243;p30">
            <a:extLst>
              <a:ext uri="{FF2B5EF4-FFF2-40B4-BE49-F238E27FC236}">
                <a16:creationId xmlns:a16="http://schemas.microsoft.com/office/drawing/2014/main" id="{DF9BD063-D7ED-B8CA-323A-C522106F877D}"/>
              </a:ext>
            </a:extLst>
          </p:cNvPr>
          <p:cNvSpPr txBox="1"/>
          <p:nvPr/>
        </p:nvSpPr>
        <p:spPr>
          <a:xfrm>
            <a:off x="720000" y="4132508"/>
            <a:ext cx="7704000" cy="56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rgbClr val="D4A255"/>
                </a:solidFill>
                <a:latin typeface="Lora Medium"/>
                <a:ea typeface="Lora Medium"/>
                <a:cs typeface="Lora Medium"/>
                <a:sym typeface="Lora Medium"/>
              </a:rPr>
              <a:t>Dr. Pronika Chawla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D4A255"/>
                </a:solidFill>
                <a:latin typeface="Lora Medium"/>
                <a:ea typeface="Lora Medium"/>
                <a:cs typeface="Lora Medium"/>
                <a:sym typeface="Lora Medium"/>
              </a:rPr>
              <a:t>Associate Professor </a:t>
            </a:r>
            <a:endParaRPr dirty="0">
              <a:solidFill>
                <a:srgbClr val="D4A255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 idx="15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DFB7"/>
                </a:solidFill>
              </a:rPr>
              <a:t>TABLE OF CONTENTS</a:t>
            </a:r>
            <a:endParaRPr dirty="0">
              <a:solidFill>
                <a:srgbClr val="F4DFB7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69A2DB-A372-4041-1145-55D393EE9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52" y="481278"/>
            <a:ext cx="1403909" cy="5364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8BB6007-C551-D8EA-7687-5066A0FEA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004" y="386882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5A1091C-D005-4B47-DCBF-C54E6108A474}"/>
              </a:ext>
            </a:extLst>
          </p:cNvPr>
          <p:cNvSpPr txBox="1"/>
          <p:nvPr/>
        </p:nvSpPr>
        <p:spPr>
          <a:xfrm>
            <a:off x="490329" y="1449972"/>
            <a:ext cx="249803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lvl="0" indent="-179388">
              <a:buClr>
                <a:srgbClr val="D2AF74"/>
              </a:buClr>
              <a:buFont typeface="+mj-lt"/>
              <a:buAutoNum type="arabicPeriod"/>
            </a:pPr>
            <a:r>
              <a:rPr lang="en-IN" sz="1400" dirty="0">
                <a:solidFill>
                  <a:srgbClr val="D2AF74"/>
                </a:solidFill>
                <a:latin typeface="Lora Medium" pitchFamily="2" charset="0"/>
              </a:rPr>
              <a:t>Introduction</a:t>
            </a:r>
            <a:endParaRPr lang="en-IN" dirty="0">
              <a:solidFill>
                <a:srgbClr val="D2AF74"/>
              </a:solidFill>
              <a:latin typeface="Lora Medium" pitchFamily="2" charset="0"/>
            </a:endParaRP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rgbClr val="F4DFB7"/>
                </a:solidFill>
                <a:latin typeface="Lora Medium" pitchFamily="2" charset="0"/>
              </a:rPr>
              <a:t>Overview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Problem Statement &amp; Objective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Proposed Solution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System Architecture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E3F206-7D82-B361-0A82-07928C525458}"/>
              </a:ext>
            </a:extLst>
          </p:cNvPr>
          <p:cNvSpPr txBox="1"/>
          <p:nvPr/>
        </p:nvSpPr>
        <p:spPr>
          <a:xfrm>
            <a:off x="2988365" y="1489772"/>
            <a:ext cx="265043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lvl="0" indent="-179388">
              <a:buClr>
                <a:srgbClr val="D2AF74"/>
              </a:buClr>
              <a:buFont typeface="+mj-lt"/>
              <a:buAutoNum type="arabicPeriod" startAt="2"/>
            </a:pPr>
            <a:r>
              <a:rPr lang="en-IN" sz="1400" dirty="0">
                <a:solidFill>
                  <a:srgbClr val="D2AF74"/>
                </a:solidFill>
                <a:latin typeface="Lora Medium" pitchFamily="2" charset="0"/>
              </a:rPr>
              <a:t>User Experience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The Client Experience (User)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The Professional Experience (Lawyer)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The AI-Powered Core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EBCC18-E219-5189-4D56-107B39DF4072}"/>
              </a:ext>
            </a:extLst>
          </p:cNvPr>
          <p:cNvSpPr txBox="1"/>
          <p:nvPr/>
        </p:nvSpPr>
        <p:spPr>
          <a:xfrm>
            <a:off x="5807766" y="1489772"/>
            <a:ext cx="29154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lvl="0" indent="-179388">
              <a:buClr>
                <a:srgbClr val="D2AF74"/>
              </a:buClr>
              <a:buFont typeface="+mj-lt"/>
              <a:buAutoNum type="arabicPeriod" startAt="3"/>
            </a:pPr>
            <a:r>
              <a:rPr lang="en-IN" sz="1400" dirty="0">
                <a:solidFill>
                  <a:srgbClr val="D2AF74"/>
                </a:solidFill>
                <a:latin typeface="Lora Medium" pitchFamily="2" charset="0"/>
              </a:rPr>
              <a:t>Technology &amp; Architecture Deep Dive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The Technology Stack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Data Model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API Request Flow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A4FCA3-1CD2-1671-E859-273D16823373}"/>
              </a:ext>
            </a:extLst>
          </p:cNvPr>
          <p:cNvSpPr txBox="1"/>
          <p:nvPr/>
        </p:nvSpPr>
        <p:spPr>
          <a:xfrm>
            <a:off x="411819" y="2996582"/>
            <a:ext cx="230587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lvl="0" indent="-179388">
              <a:buClr>
                <a:srgbClr val="D2AF74"/>
              </a:buClr>
              <a:buFont typeface="+mj-lt"/>
              <a:buAutoNum type="arabicPeriod" startAt="4"/>
            </a:pPr>
            <a:r>
              <a:rPr lang="en-IN" sz="1400" dirty="0">
                <a:solidFill>
                  <a:srgbClr val="D2AF74"/>
                </a:solidFill>
                <a:latin typeface="Lora Medium" pitchFamily="2" charset="0"/>
              </a:rPr>
              <a:t>Core Workflow Analysis</a:t>
            </a:r>
          </a:p>
          <a:p>
            <a:pPr marL="450850" lvl="0" indent="-185738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Appointment Booking</a:t>
            </a:r>
          </a:p>
          <a:p>
            <a:pPr marL="450850" lvl="0" indent="-185738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Stripe Payment Flow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A4439B-2F9B-FC20-3C6E-0244A57029EC}"/>
              </a:ext>
            </a:extLst>
          </p:cNvPr>
          <p:cNvSpPr txBox="1"/>
          <p:nvPr/>
        </p:nvSpPr>
        <p:spPr>
          <a:xfrm>
            <a:off x="2988365" y="2996582"/>
            <a:ext cx="253779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lvl="0" indent="-179388">
              <a:buClr>
                <a:srgbClr val="D2AF74"/>
              </a:buClr>
              <a:buFont typeface="+mj-lt"/>
              <a:buAutoNum type="arabicPeriod" startAt="5"/>
            </a:pPr>
            <a:r>
              <a:rPr lang="en-IN" sz="1400" dirty="0">
                <a:solidFill>
                  <a:srgbClr val="D2AF74"/>
                </a:solidFill>
                <a:latin typeface="Lora Medium" pitchFamily="2" charset="0"/>
              </a:rPr>
              <a:t>Deployment &amp; Project Management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CI/CD Pipeline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Automation: Cron Jobs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6CE5F1-841D-BD42-9EBE-1A2A8314073F}"/>
              </a:ext>
            </a:extLst>
          </p:cNvPr>
          <p:cNvSpPr txBox="1"/>
          <p:nvPr/>
        </p:nvSpPr>
        <p:spPr>
          <a:xfrm>
            <a:off x="5807766" y="3047279"/>
            <a:ext cx="305462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lvl="0" indent="-179388">
              <a:buClr>
                <a:srgbClr val="D2AF74"/>
              </a:buClr>
              <a:buFont typeface="+mj-lt"/>
              <a:buAutoNum type="arabicPeriod" startAt="6"/>
            </a:pPr>
            <a:r>
              <a:rPr lang="en-IN" sz="1400" dirty="0">
                <a:solidFill>
                  <a:srgbClr val="D2AF74"/>
                </a:solidFill>
                <a:latin typeface="Lora Medium" pitchFamily="2" charset="0"/>
              </a:rPr>
              <a:t>Conclusion &amp; Future Scope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Conclusion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Future Scope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References</a:t>
            </a:r>
          </a:p>
          <a:p>
            <a:pPr marL="357188" lvl="0" indent="-177800">
              <a:buClr>
                <a:srgbClr val="D2AF74"/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Live Demo &amp; Links</a:t>
            </a:r>
            <a:endParaRPr lang="en-IN" sz="1400" dirty="0">
              <a:solidFill>
                <a:srgbClr val="D2AF74"/>
              </a:solidFill>
              <a:latin typeface="Lora Medium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33671" t="6294" r="12151" b="-9483"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4244454" y="1754000"/>
            <a:ext cx="4184346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Introduction</a:t>
            </a:r>
            <a:endParaRPr dirty="0"/>
          </a:p>
        </p:txBody>
      </p:sp>
      <p:sp>
        <p:nvSpPr>
          <p:cNvPr id="275" name="Google Shape;275;p32"/>
          <p:cNvSpPr txBox="1">
            <a:spLocks noGrp="1"/>
          </p:cNvSpPr>
          <p:nvPr>
            <p:ph type="title" idx="2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76" name="Google Shape;276;p32"/>
          <p:cNvCxnSpPr/>
          <p:nvPr/>
        </p:nvCxnSpPr>
        <p:spPr>
          <a:xfrm>
            <a:off x="7497550" y="1708475"/>
            <a:ext cx="81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32"/>
          <p:cNvGrpSpPr/>
          <p:nvPr/>
        </p:nvGrpSpPr>
        <p:grpSpPr>
          <a:xfrm>
            <a:off x="-1760566" y="0"/>
            <a:ext cx="10904568" cy="5699721"/>
            <a:chOff x="-1760566" y="0"/>
            <a:chExt cx="10904568" cy="5699721"/>
          </a:xfrm>
        </p:grpSpPr>
        <p:pic>
          <p:nvPicPr>
            <p:cNvPr id="278" name="Google Shape;278;p32"/>
            <p:cNvPicPr preferRelativeResize="0"/>
            <p:nvPr/>
          </p:nvPicPr>
          <p:blipFill rotWithShape="1">
            <a:blip r:embed="rId4">
              <a:alphaModFix/>
            </a:blip>
            <a:srcRect t="34421" r="55416"/>
            <a:stretch/>
          </p:blipFill>
          <p:spPr>
            <a:xfrm>
              <a:off x="0" y="2352675"/>
              <a:ext cx="4076698" cy="27908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2"/>
            <p:cNvGrpSpPr/>
            <p:nvPr/>
          </p:nvGrpSpPr>
          <p:grpSpPr>
            <a:xfrm rot="398806">
              <a:off x="-1626891" y="2183852"/>
              <a:ext cx="10487332" cy="2918733"/>
              <a:chOff x="-553366" y="2927810"/>
              <a:chExt cx="6312473" cy="1756827"/>
            </a:xfrm>
          </p:grpSpPr>
          <p:sp>
            <p:nvSpPr>
              <p:cNvPr id="280" name="Google Shape;280;p32"/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2"/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2"/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2"/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2"/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2"/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2"/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0" name="Google Shape;290;p32"/>
            <p:cNvPicPr preferRelativeResize="0"/>
            <p:nvPr/>
          </p:nvPicPr>
          <p:blipFill rotWithShape="1">
            <a:blip r:embed="rId5">
              <a:alphaModFix/>
            </a:blip>
            <a:srcRect t="54142" b="4115"/>
            <a:stretch/>
          </p:blipFill>
          <p:spPr>
            <a:xfrm>
              <a:off x="0" y="2996450"/>
              <a:ext cx="9144003" cy="214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2"/>
            <p:cNvPicPr preferRelativeResize="0"/>
            <p:nvPr/>
          </p:nvPicPr>
          <p:blipFill rotWithShape="1">
            <a:blip r:embed="rId6">
              <a:alphaModFix/>
            </a:blip>
            <a:srcRect l="622" t="19999" r="35869" b="58253"/>
            <a:stretch/>
          </p:blipFill>
          <p:spPr>
            <a:xfrm>
              <a:off x="0" y="0"/>
              <a:ext cx="4126049" cy="1009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43E998C-566C-5122-3B13-6274A47D77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32" y="785763"/>
            <a:ext cx="854038" cy="800962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33"/>
          <p:cNvGrpSpPr/>
          <p:nvPr/>
        </p:nvGrpSpPr>
        <p:grpSpPr>
          <a:xfrm>
            <a:off x="0" y="1"/>
            <a:ext cx="9149176" cy="5143500"/>
            <a:chOff x="5081000" y="1349513"/>
            <a:chExt cx="4065302" cy="3793987"/>
          </a:xfrm>
        </p:grpSpPr>
        <p:pic>
          <p:nvPicPr>
            <p:cNvPr id="300" name="Google Shape;300;p33"/>
            <p:cNvPicPr preferRelativeResize="0"/>
            <p:nvPr/>
          </p:nvPicPr>
          <p:blipFill rotWithShape="1">
            <a:blip r:embed="rId3">
              <a:alphaModFix/>
            </a:blip>
            <a:srcRect l="7731" t="31291" r="55413" b="14156"/>
            <a:stretch/>
          </p:blipFill>
          <p:spPr>
            <a:xfrm>
              <a:off x="5081000" y="2821800"/>
              <a:ext cx="4063002" cy="232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3"/>
            <p:cNvPicPr preferRelativeResize="0"/>
            <p:nvPr/>
          </p:nvPicPr>
          <p:blipFill rotWithShape="1">
            <a:blip r:embed="rId4">
              <a:alphaModFix/>
            </a:blip>
            <a:srcRect l="7232" t="23213" r="44093" b="58104"/>
            <a:stretch/>
          </p:blipFill>
          <p:spPr>
            <a:xfrm flipH="1">
              <a:off x="5086275" y="1349513"/>
              <a:ext cx="4060027" cy="1189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33"/>
            <p:cNvPicPr preferRelativeResize="0"/>
            <p:nvPr/>
          </p:nvPicPr>
          <p:blipFill rotWithShape="1">
            <a:blip r:embed="rId5">
              <a:alphaModFix/>
            </a:blip>
            <a:srcRect l="39049" t="46251" r="12646" b="6859"/>
            <a:stretch/>
          </p:blipFill>
          <p:spPr>
            <a:xfrm>
              <a:off x="5086275" y="3278250"/>
              <a:ext cx="4057723" cy="1865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" name="Google Shape;303;p33"/>
          <p:cNvSpPr txBox="1"/>
          <p:nvPr/>
        </p:nvSpPr>
        <p:spPr>
          <a:xfrm>
            <a:off x="5400675" y="2733675"/>
            <a:ext cx="376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FB27A4-708D-E55E-13C8-DD3E57A45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780" y="61210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Google Shape;297;p33"/>
          <p:cNvSpPr txBox="1">
            <a:spLocks noGrp="1"/>
          </p:cNvSpPr>
          <p:nvPr>
            <p:ph type="title"/>
          </p:nvPr>
        </p:nvSpPr>
        <p:spPr>
          <a:xfrm>
            <a:off x="895399" y="734530"/>
            <a:ext cx="41778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4DFB7"/>
                </a:solidFill>
              </a:rPr>
              <a:t>Overview</a:t>
            </a:r>
            <a:endParaRPr dirty="0">
              <a:solidFill>
                <a:srgbClr val="F4DFB7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52C1BD-AD88-21E4-1910-A475F41A39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7386" y="612101"/>
            <a:ext cx="1403909" cy="536422"/>
          </a:xfrm>
          <a:prstGeom prst="rect">
            <a:avLst/>
          </a:prstGeom>
        </p:spPr>
      </p:pic>
      <p:sp>
        <p:nvSpPr>
          <p:cNvPr id="27" name="Google Shape;298;p33"/>
          <p:cNvSpPr txBox="1">
            <a:spLocks noGrp="1"/>
          </p:cNvSpPr>
          <p:nvPr>
            <p:ph type="body" idx="1"/>
          </p:nvPr>
        </p:nvSpPr>
        <p:spPr>
          <a:xfrm>
            <a:off x="222780" y="1280595"/>
            <a:ext cx="4704062" cy="26909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dirty="0">
                <a:latin typeface="Lora Medium" pitchFamily="2" charset="0"/>
              </a:rPr>
              <a:t>CounselDesk is an </a:t>
            </a:r>
            <a:r>
              <a:rPr lang="en-US" b="1" dirty="0">
                <a:latin typeface="Lora Medium" pitchFamily="2" charset="0"/>
              </a:rPr>
              <a:t>AI-powered legal services platform</a:t>
            </a:r>
            <a:r>
              <a:rPr lang="en-US" dirty="0">
                <a:latin typeface="Lora Medium" pitchFamily="2" charset="0"/>
              </a:rPr>
              <a:t> designed to streamline interactions between clients and legal professionals. It provides a unified ecosystem where users can </a:t>
            </a:r>
            <a:r>
              <a:rPr lang="en-US" b="1" dirty="0">
                <a:latin typeface="Lora Medium" pitchFamily="2" charset="0"/>
              </a:rPr>
              <a:t>discover verified lawyers</a:t>
            </a:r>
            <a:r>
              <a:rPr lang="en-US" dirty="0">
                <a:latin typeface="Lora Medium" pitchFamily="2" charset="0"/>
              </a:rPr>
              <a:t>, </a:t>
            </a:r>
            <a:r>
              <a:rPr lang="en-US" b="1" dirty="0">
                <a:latin typeface="Lora Medium" pitchFamily="2" charset="0"/>
              </a:rPr>
              <a:t>book appointments</a:t>
            </a:r>
            <a:r>
              <a:rPr lang="en-US" dirty="0">
                <a:latin typeface="Lora Medium" pitchFamily="2" charset="0"/>
              </a:rPr>
              <a:t>, </a:t>
            </a:r>
            <a:r>
              <a:rPr lang="en-US" b="1" dirty="0">
                <a:latin typeface="Lora Medium" pitchFamily="2" charset="0"/>
              </a:rPr>
              <a:t>make secure payments</a:t>
            </a:r>
            <a:r>
              <a:rPr lang="en-US" dirty="0">
                <a:latin typeface="Lora Medium" pitchFamily="2" charset="0"/>
              </a:rPr>
              <a:t>, and </a:t>
            </a:r>
            <a:r>
              <a:rPr lang="en-US" b="1" dirty="0">
                <a:latin typeface="Lora Medium" pitchFamily="2" charset="0"/>
              </a:rPr>
              <a:t>attend live video consultations</a:t>
            </a:r>
            <a:r>
              <a:rPr lang="en-US" dirty="0">
                <a:latin typeface="Lora Medium" pitchFamily="2" charset="0"/>
              </a:rPr>
              <a:t>, while lawyers manage their entire digital practice through dedicated dashboards.</a:t>
            </a:r>
          </a:p>
          <a:p>
            <a:pPr marL="0" lvl="0" indent="0" algn="just">
              <a:buNone/>
            </a:pPr>
            <a:br>
              <a:rPr lang="en-US" dirty="0">
                <a:latin typeface="Lora Medium" pitchFamily="2" charset="0"/>
              </a:rPr>
            </a:br>
            <a:r>
              <a:rPr lang="en-US" dirty="0">
                <a:latin typeface="Lora Medium" pitchFamily="2" charset="0"/>
              </a:rPr>
              <a:t>The platform integrates advanced technologies such as </a:t>
            </a:r>
            <a:r>
              <a:rPr lang="en-US" b="1" dirty="0">
                <a:latin typeface="Lora Medium" pitchFamily="2" charset="0"/>
              </a:rPr>
              <a:t>Google Gemini AI</a:t>
            </a:r>
            <a:r>
              <a:rPr lang="en-US" dirty="0">
                <a:latin typeface="Lora Medium" pitchFamily="2" charset="0"/>
              </a:rPr>
              <a:t>, </a:t>
            </a:r>
            <a:r>
              <a:rPr lang="en-US" b="1" dirty="0">
                <a:latin typeface="Lora Medium" pitchFamily="2" charset="0"/>
              </a:rPr>
              <a:t>Stripe</a:t>
            </a:r>
            <a:r>
              <a:rPr lang="en-US" dirty="0">
                <a:latin typeface="Lora Medium" pitchFamily="2" charset="0"/>
              </a:rPr>
              <a:t>, </a:t>
            </a:r>
            <a:r>
              <a:rPr lang="en-US" b="1" dirty="0" err="1">
                <a:latin typeface="Lora Medium" pitchFamily="2" charset="0"/>
              </a:rPr>
              <a:t>Jitsi</a:t>
            </a:r>
            <a:r>
              <a:rPr lang="en-US" b="1" dirty="0">
                <a:latin typeface="Lora Medium" pitchFamily="2" charset="0"/>
              </a:rPr>
              <a:t> Meet</a:t>
            </a:r>
            <a:r>
              <a:rPr lang="en-US" dirty="0">
                <a:latin typeface="Lora Medium" pitchFamily="2" charset="0"/>
              </a:rPr>
              <a:t>, and </a:t>
            </a:r>
            <a:r>
              <a:rPr lang="en-US" b="1" dirty="0">
                <a:latin typeface="Lora Medium" pitchFamily="2" charset="0"/>
              </a:rPr>
              <a:t>Cloudinary</a:t>
            </a:r>
            <a:r>
              <a:rPr lang="en-US" dirty="0">
                <a:latin typeface="Lora Medium" pitchFamily="2" charset="0"/>
              </a:rPr>
              <a:t>, delivering a modern, scalable, and automated solution for legal assistance. Built as a full-stack </a:t>
            </a:r>
            <a:r>
              <a:rPr lang="en-US" dirty="0" err="1">
                <a:latin typeface="Lora Medium" pitchFamily="2" charset="0"/>
              </a:rPr>
              <a:t>monorepo</a:t>
            </a:r>
            <a:r>
              <a:rPr lang="en-US" dirty="0">
                <a:latin typeface="Lora Medium" pitchFamily="2" charset="0"/>
              </a:rPr>
              <a:t>, CounselDesk aims to bridge accessibility gaps in legal services through a seamless, user-centric digital experience.</a:t>
            </a:r>
            <a:endParaRPr dirty="0">
              <a:latin typeface="Lora Medium" pitchFamily="2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66CE545-2E4B-5BA8-1D40-5E400B9C70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1902" y="1488480"/>
            <a:ext cx="3839318" cy="19686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Problem Statement &amp; Objective</a:t>
            </a:r>
            <a:endParaRPr sz="2800" dirty="0">
              <a:solidFill>
                <a:srgbClr val="F4DFB7"/>
              </a:solidFill>
            </a:endParaRPr>
          </a:p>
        </p:txBody>
      </p:sp>
      <p:sp>
        <p:nvSpPr>
          <p:cNvPr id="309" name="Google Shape;309;p34"/>
          <p:cNvSpPr txBox="1">
            <a:spLocks noGrp="1"/>
          </p:cNvSpPr>
          <p:nvPr>
            <p:ph type="subTitle" idx="3"/>
          </p:nvPr>
        </p:nvSpPr>
        <p:spPr>
          <a:xfrm>
            <a:off x="941124" y="1687196"/>
            <a:ext cx="3355003" cy="2960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Access to legal services is fragmented, slow, and often confusing for users.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Clients struggle to find verified lawyers who match their needs, budget, and availability.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Traditional legal consultation methods lack convenience, transparency, and digital support.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Lawyers do not have a unified platform for scheduling, document handling, payments, and client management.</a:t>
            </a:r>
          </a:p>
        </p:txBody>
      </p:sp>
      <p:sp>
        <p:nvSpPr>
          <p:cNvPr id="310" name="Google Shape;310;p34"/>
          <p:cNvSpPr txBox="1">
            <a:spLocks noGrp="1"/>
          </p:cNvSpPr>
          <p:nvPr>
            <p:ph type="subTitle" idx="1"/>
          </p:nvPr>
        </p:nvSpPr>
        <p:spPr>
          <a:xfrm>
            <a:off x="1018473" y="1111127"/>
            <a:ext cx="3029100" cy="48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>
                <a:solidFill>
                  <a:srgbClr val="D2AF74"/>
                </a:solidFill>
              </a:rPr>
              <a:t>Problem Statement</a:t>
            </a:r>
            <a:endParaRPr dirty="0">
              <a:solidFill>
                <a:srgbClr val="D2AF74"/>
              </a:solidFill>
            </a:endParaRPr>
          </a:p>
        </p:txBody>
      </p:sp>
      <p:sp>
        <p:nvSpPr>
          <p:cNvPr id="312" name="Google Shape;312;p34"/>
          <p:cNvSpPr txBox="1">
            <a:spLocks noGrp="1"/>
          </p:cNvSpPr>
          <p:nvPr>
            <p:ph type="subTitle" idx="4"/>
          </p:nvPr>
        </p:nvSpPr>
        <p:spPr>
          <a:xfrm>
            <a:off x="4791882" y="1625154"/>
            <a:ext cx="3894918" cy="3518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To develop a centralized digital platform that connects clients with verified legal professionals.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To provide seamless features such as lawyer discovery, appointment booking, secure Stripe-based payments, and </a:t>
            </a:r>
            <a:r>
              <a:rPr lang="en-US" altLang="en-US" dirty="0" err="1">
                <a:solidFill>
                  <a:schemeClr val="tx1"/>
                </a:solidFill>
                <a:latin typeface="Lora Medium" pitchFamily="2" charset="0"/>
              </a:rPr>
              <a:t>Jitsi</a:t>
            </a: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 video consultations.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To integrate AI-powered legal assistance using Google Gemini for code search and text summarization.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To offer separate dashboards for Users, Lawyers, and Admins, ensuring role-based access control and smooth workflow.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To enhance accessibility, reliability, and efficiency of legal services through a modern full-stack web solution.</a:t>
            </a:r>
          </a:p>
        </p:txBody>
      </p:sp>
      <p:cxnSp>
        <p:nvCxnSpPr>
          <p:cNvPr id="313" name="Google Shape;313;p34"/>
          <p:cNvCxnSpPr>
            <a:cxnSpLocks/>
          </p:cNvCxnSpPr>
          <p:nvPr/>
        </p:nvCxnSpPr>
        <p:spPr>
          <a:xfrm>
            <a:off x="1010696" y="1549593"/>
            <a:ext cx="34076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34"/>
          <p:cNvSpPr/>
          <p:nvPr/>
        </p:nvSpPr>
        <p:spPr>
          <a:xfrm>
            <a:off x="1018473" y="1204496"/>
            <a:ext cx="292065" cy="269536"/>
          </a:xfrm>
          <a:custGeom>
            <a:avLst/>
            <a:gdLst/>
            <a:ahLst/>
            <a:cxnLst/>
            <a:rect l="l" t="t" r="r" b="b"/>
            <a:pathLst>
              <a:path w="13038" h="11907" extrusionOk="0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44CC19-9006-5F91-02A6-E9EC3A8D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9D9A33-CDDF-2524-64C8-F5B1EBC3B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E3D37758-38B0-7524-B615-B0F2014C4B2C}"/>
              </a:ext>
            </a:extLst>
          </p:cNvPr>
          <p:cNvSpPr txBox="1">
            <a:spLocks/>
          </p:cNvSpPr>
          <p:nvPr/>
        </p:nvSpPr>
        <p:spPr>
          <a:xfrm>
            <a:off x="4861603" y="1112672"/>
            <a:ext cx="1678345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SemiBold"/>
              <a:buNone/>
              <a:defRPr sz="24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pPr marL="0" indent="0"/>
            <a:r>
              <a:rPr lang="en-IN" dirty="0">
                <a:solidFill>
                  <a:srgbClr val="D2AF74"/>
                </a:solidFill>
              </a:rPr>
              <a:t>Objectives</a:t>
            </a:r>
          </a:p>
        </p:txBody>
      </p:sp>
      <p:cxnSp>
        <p:nvCxnSpPr>
          <p:cNvPr id="14" name="Google Shape;313;p34">
            <a:extLst>
              <a:ext uri="{FF2B5EF4-FFF2-40B4-BE49-F238E27FC236}">
                <a16:creationId xmlns:a16="http://schemas.microsoft.com/office/drawing/2014/main" id="{9E3C74BC-4027-FCA9-0865-2B74F22B30B5}"/>
              </a:ext>
            </a:extLst>
          </p:cNvPr>
          <p:cNvCxnSpPr>
            <a:cxnSpLocks/>
          </p:cNvCxnSpPr>
          <p:nvPr/>
        </p:nvCxnSpPr>
        <p:spPr>
          <a:xfrm>
            <a:off x="4707793" y="1549593"/>
            <a:ext cx="34076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315;p34">
            <a:extLst>
              <a:ext uri="{FF2B5EF4-FFF2-40B4-BE49-F238E27FC236}">
                <a16:creationId xmlns:a16="http://schemas.microsoft.com/office/drawing/2014/main" id="{F238CC94-4CF9-68B3-4F42-1C6A7F5FD2D3}"/>
              </a:ext>
            </a:extLst>
          </p:cNvPr>
          <p:cNvSpPr/>
          <p:nvPr/>
        </p:nvSpPr>
        <p:spPr>
          <a:xfrm>
            <a:off x="4715570" y="1204496"/>
            <a:ext cx="292065" cy="269536"/>
          </a:xfrm>
          <a:custGeom>
            <a:avLst/>
            <a:gdLst/>
            <a:ahLst/>
            <a:cxnLst/>
            <a:rect l="l" t="t" r="r" b="b"/>
            <a:pathLst>
              <a:path w="13038" h="11907" extrusionOk="0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AE8C5935-10C0-F577-5849-17AEB6F8D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C64CD92B-BBDD-20F1-FC56-0029D7EA31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Proposed Solution</a:t>
            </a:r>
            <a:endParaRPr sz="2800" dirty="0">
              <a:solidFill>
                <a:srgbClr val="F4DFB7"/>
              </a:solidFill>
            </a:endParaRPr>
          </a:p>
        </p:txBody>
      </p:sp>
      <p:sp>
        <p:nvSpPr>
          <p:cNvPr id="309" name="Google Shape;309;p34">
            <a:extLst>
              <a:ext uri="{FF2B5EF4-FFF2-40B4-BE49-F238E27FC236}">
                <a16:creationId xmlns:a16="http://schemas.microsoft.com/office/drawing/2014/main" id="{A48BC6E2-EC21-2744-590C-9FAC45C5D6F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848358" y="1047095"/>
            <a:ext cx="7228841" cy="482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D4A255"/>
              </a:buClr>
              <a:buSzTx/>
            </a:pPr>
            <a:r>
              <a:rPr lang="en-US" dirty="0"/>
              <a:t>CounselDesk offers a unified, AI-powered legal services platform that simplifies interactions between clients and legal professionals through the following key solutions:</a:t>
            </a:r>
            <a:endParaRPr lang="en-US" altLang="en-US" dirty="0">
              <a:solidFill>
                <a:schemeClr val="tx1"/>
              </a:solidFill>
              <a:latin typeface="Lora Medium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CA0C39-BD8C-B65A-68A6-E7FC1BCE5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33ADD7-D18D-DBC7-DFB6-B472D4947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8" name="Google Shape;309;p34">
            <a:extLst>
              <a:ext uri="{FF2B5EF4-FFF2-40B4-BE49-F238E27FC236}">
                <a16:creationId xmlns:a16="http://schemas.microsoft.com/office/drawing/2014/main" id="{ECB677EA-7889-34C8-0CF4-8A301BA2AF1F}"/>
              </a:ext>
            </a:extLst>
          </p:cNvPr>
          <p:cNvSpPr txBox="1">
            <a:spLocks/>
          </p:cNvSpPr>
          <p:nvPr/>
        </p:nvSpPr>
        <p:spPr>
          <a:xfrm>
            <a:off x="372100" y="1635155"/>
            <a:ext cx="2969069" cy="106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indent="0" algn="just"/>
            <a:r>
              <a:rPr lang="en-US" b="1" dirty="0">
                <a:solidFill>
                  <a:srgbClr val="D2AF74"/>
                </a:solidFill>
              </a:rPr>
              <a:t>Centralized Legal Ecosystem</a:t>
            </a:r>
          </a:p>
          <a:p>
            <a:pPr marL="0" indent="0" algn="just"/>
            <a:r>
              <a:rPr lang="en-US" dirty="0"/>
              <a:t>A single platform where users can find verified lawyers, book consultations, view legal codes, and receive AI-generated insights.</a:t>
            </a:r>
          </a:p>
          <a:p>
            <a:pPr marL="179388" indent="-26988" algn="just"/>
            <a:endParaRPr lang="en-US" dirty="0"/>
          </a:p>
        </p:txBody>
      </p:sp>
      <p:sp>
        <p:nvSpPr>
          <p:cNvPr id="9" name="Google Shape;309;p34">
            <a:extLst>
              <a:ext uri="{FF2B5EF4-FFF2-40B4-BE49-F238E27FC236}">
                <a16:creationId xmlns:a16="http://schemas.microsoft.com/office/drawing/2014/main" id="{5FBDDF4C-20D7-D348-827B-4AD6CF31F292}"/>
              </a:ext>
            </a:extLst>
          </p:cNvPr>
          <p:cNvSpPr txBox="1">
            <a:spLocks/>
          </p:cNvSpPr>
          <p:nvPr/>
        </p:nvSpPr>
        <p:spPr>
          <a:xfrm>
            <a:off x="3182824" y="1620414"/>
            <a:ext cx="2969069" cy="106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179388" indent="0" algn="just"/>
            <a:r>
              <a:rPr lang="en-US" b="1" dirty="0">
                <a:solidFill>
                  <a:srgbClr val="D2AF74"/>
                </a:solidFill>
              </a:rPr>
              <a:t>Smart Lawyer Discovery</a:t>
            </a:r>
          </a:p>
          <a:p>
            <a:pPr marL="179388" indent="0" algn="just"/>
            <a:r>
              <a:rPr lang="en-US" dirty="0"/>
              <a:t>Advanced filtering, specialization search, ratings, and availability-based selection to help clients find the right lawyer instantly.</a:t>
            </a:r>
          </a:p>
        </p:txBody>
      </p:sp>
      <p:sp>
        <p:nvSpPr>
          <p:cNvPr id="11" name="Google Shape;309;p34">
            <a:extLst>
              <a:ext uri="{FF2B5EF4-FFF2-40B4-BE49-F238E27FC236}">
                <a16:creationId xmlns:a16="http://schemas.microsoft.com/office/drawing/2014/main" id="{5C4D11DF-BC53-E2E6-E6AC-815BF6035AF8}"/>
              </a:ext>
            </a:extLst>
          </p:cNvPr>
          <p:cNvSpPr txBox="1">
            <a:spLocks/>
          </p:cNvSpPr>
          <p:nvPr/>
        </p:nvSpPr>
        <p:spPr>
          <a:xfrm>
            <a:off x="5993547" y="1635155"/>
            <a:ext cx="2969069" cy="106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179388" indent="0" algn="just"/>
            <a:r>
              <a:rPr lang="en-US" b="1" dirty="0">
                <a:solidFill>
                  <a:srgbClr val="D2AF74"/>
                </a:solidFill>
              </a:rPr>
              <a:t>Secure Video Consultations</a:t>
            </a:r>
          </a:p>
          <a:p>
            <a:pPr marL="179388" indent="0" algn="just"/>
            <a:r>
              <a:rPr lang="en-US" dirty="0"/>
              <a:t>Embedded </a:t>
            </a:r>
            <a:r>
              <a:rPr lang="en-US" dirty="0" err="1"/>
              <a:t>Jitsi</a:t>
            </a:r>
            <a:r>
              <a:rPr lang="en-US" dirty="0"/>
              <a:t> Meet for live, one-on-one lawyer–client consultation sessions.</a:t>
            </a:r>
          </a:p>
        </p:txBody>
      </p:sp>
      <p:sp>
        <p:nvSpPr>
          <p:cNvPr id="12" name="Google Shape;309;p34">
            <a:extLst>
              <a:ext uri="{FF2B5EF4-FFF2-40B4-BE49-F238E27FC236}">
                <a16:creationId xmlns:a16="http://schemas.microsoft.com/office/drawing/2014/main" id="{143C0416-8449-DD03-00F4-E6775C269A2F}"/>
              </a:ext>
            </a:extLst>
          </p:cNvPr>
          <p:cNvSpPr txBox="1">
            <a:spLocks/>
          </p:cNvSpPr>
          <p:nvPr/>
        </p:nvSpPr>
        <p:spPr>
          <a:xfrm>
            <a:off x="3182824" y="2890884"/>
            <a:ext cx="2969069" cy="173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algn="just"/>
            <a:r>
              <a:rPr lang="en-US" b="1" dirty="0">
                <a:solidFill>
                  <a:srgbClr val="D2AF74"/>
                </a:solidFill>
              </a:rPr>
              <a:t>Dedicated Dashboards for All Roles</a:t>
            </a:r>
          </a:p>
          <a:p>
            <a:pPr algn="just"/>
            <a:r>
              <a:rPr lang="en-US" dirty="0"/>
              <a:t>Role-based interfaces for:</a:t>
            </a:r>
          </a:p>
          <a:p>
            <a:pPr algn="just"/>
            <a:endParaRPr lang="en-US" dirty="0"/>
          </a:p>
          <a:p>
            <a:pPr marL="323850" indent="-171450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Users (booking &amp; consultation management)</a:t>
            </a:r>
          </a:p>
          <a:p>
            <a:pPr marL="323850" indent="-171450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Lawyers (scheduling, earnings, verification)</a:t>
            </a:r>
          </a:p>
          <a:p>
            <a:pPr marL="323850" indent="-171450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Admins (analytics, verification, platform oversight)</a:t>
            </a:r>
          </a:p>
        </p:txBody>
      </p:sp>
      <p:sp>
        <p:nvSpPr>
          <p:cNvPr id="13" name="Google Shape;309;p34">
            <a:extLst>
              <a:ext uri="{FF2B5EF4-FFF2-40B4-BE49-F238E27FC236}">
                <a16:creationId xmlns:a16="http://schemas.microsoft.com/office/drawing/2014/main" id="{240FF540-48FF-97F4-BC35-1E4CBD95C1EF}"/>
              </a:ext>
            </a:extLst>
          </p:cNvPr>
          <p:cNvSpPr txBox="1">
            <a:spLocks/>
          </p:cNvSpPr>
          <p:nvPr/>
        </p:nvSpPr>
        <p:spPr>
          <a:xfrm>
            <a:off x="213755" y="2890884"/>
            <a:ext cx="2969069" cy="129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algn="just"/>
            <a:r>
              <a:rPr lang="en-US" b="1" dirty="0">
                <a:solidFill>
                  <a:srgbClr val="D2AF74"/>
                </a:solidFill>
              </a:rPr>
              <a:t>AI-Driven Legal Assistance</a:t>
            </a:r>
          </a:p>
          <a:p>
            <a:pPr algn="just"/>
            <a:r>
              <a:rPr lang="en-US" dirty="0"/>
              <a:t>Google Gemini–powered tools for:</a:t>
            </a:r>
          </a:p>
          <a:p>
            <a:pPr algn="just"/>
            <a:endParaRPr lang="en-US" dirty="0"/>
          </a:p>
          <a:p>
            <a:pPr marL="357188" indent="-204788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Legal text summarization</a:t>
            </a:r>
          </a:p>
          <a:p>
            <a:pPr marL="357188" indent="-204788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Code exploration</a:t>
            </a:r>
          </a:p>
          <a:p>
            <a:pPr marL="357188" indent="-204788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Context-aware legal help</a:t>
            </a:r>
          </a:p>
        </p:txBody>
      </p:sp>
      <p:sp>
        <p:nvSpPr>
          <p:cNvPr id="16" name="Google Shape;309;p34">
            <a:extLst>
              <a:ext uri="{FF2B5EF4-FFF2-40B4-BE49-F238E27FC236}">
                <a16:creationId xmlns:a16="http://schemas.microsoft.com/office/drawing/2014/main" id="{FB3B4D73-5A64-7CCB-563E-0A59F6FE615A}"/>
              </a:ext>
            </a:extLst>
          </p:cNvPr>
          <p:cNvSpPr txBox="1">
            <a:spLocks/>
          </p:cNvSpPr>
          <p:nvPr/>
        </p:nvSpPr>
        <p:spPr>
          <a:xfrm>
            <a:off x="6046556" y="2905625"/>
            <a:ext cx="2969069" cy="127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None/>
              <a:defRPr sz="12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algn="just"/>
            <a:r>
              <a:rPr lang="en-US" b="1" dirty="0">
                <a:solidFill>
                  <a:srgbClr val="D2AF74"/>
                </a:solidFill>
              </a:rPr>
              <a:t>Automated Operational Workflows</a:t>
            </a:r>
          </a:p>
          <a:p>
            <a:pPr algn="just"/>
            <a:r>
              <a:rPr lang="en-US" dirty="0"/>
              <a:t>Vercel Cron Jobs handle:</a:t>
            </a:r>
          </a:p>
          <a:p>
            <a:pPr algn="just"/>
            <a:endParaRPr lang="en-US" dirty="0"/>
          </a:p>
          <a:p>
            <a:pPr marL="357188" indent="-204788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Daily slot regeneration</a:t>
            </a:r>
          </a:p>
          <a:p>
            <a:pPr marL="357188" indent="-204788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Appointment status updates</a:t>
            </a:r>
          </a:p>
          <a:p>
            <a:pPr marL="357188" indent="-204788" algn="just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dirty="0"/>
              <a:t>Backend maintenance tasks</a:t>
            </a:r>
          </a:p>
        </p:txBody>
      </p:sp>
    </p:spTree>
    <p:extLst>
      <p:ext uri="{BB962C8B-B14F-4D97-AF65-F5344CB8AC3E}">
        <p14:creationId xmlns:p14="http://schemas.microsoft.com/office/powerpoint/2010/main" val="288304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6275ECA2-EA6C-E440-DBC6-9FE7771E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F3742416-FC44-442B-9966-AF31AA4AD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System Architecture</a:t>
            </a:r>
            <a:endParaRPr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5D738A-9651-DC5E-63F0-D7F431CE6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9C094C-76EE-5176-7F30-C8DC32DB2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486AF-00DA-DC32-797B-E7886C70C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762" y="1150549"/>
            <a:ext cx="3255229" cy="37391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44EE45-4C99-3CF6-08B8-EC6D92CFABD5}"/>
              </a:ext>
            </a:extLst>
          </p:cNvPr>
          <p:cNvSpPr txBox="1"/>
          <p:nvPr/>
        </p:nvSpPr>
        <p:spPr>
          <a:xfrm>
            <a:off x="922986" y="1034973"/>
            <a:ext cx="45245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1. Client Tier (Frontend)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React SPA for Users, Lawyers &amp; Admins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Built with React 18, Vite, Tailwind CSS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Hosted on </a:t>
            </a:r>
            <a:r>
              <a:rPr lang="en-IN" sz="1200" dirty="0" err="1">
                <a:solidFill>
                  <a:schemeClr val="tx1"/>
                </a:solidFill>
                <a:latin typeface="Lora Medium" pitchFamily="2" charset="0"/>
              </a:rPr>
              <a:t>Vercel</a:t>
            </a:r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2. Application Tier (Backend)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Node.js + Express.js server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Handles authentication, bookings, payments, video links, Q&amp;A, AI tools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Deployed as </a:t>
            </a:r>
            <a:r>
              <a:rPr lang="en-IN" sz="1200" dirty="0" err="1">
                <a:solidFill>
                  <a:schemeClr val="tx1"/>
                </a:solidFill>
                <a:latin typeface="Lora Medium" pitchFamily="2" charset="0"/>
              </a:rPr>
              <a:t>Vercel</a:t>
            </a: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 Serverless APIs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3. Data Tier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MongoDB Atlas (Mongoose)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Stores Users, Lawyers, Appointments, Reviews &amp; Q&amp;A data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4. External Services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Stripe:</a:t>
            </a: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 Payments &amp; Lawyer Payouts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 err="1">
                <a:solidFill>
                  <a:srgbClr val="F4DFB7"/>
                </a:solidFill>
                <a:latin typeface="Lora Medium" pitchFamily="2" charset="0"/>
              </a:rPr>
              <a:t>Jitsi</a:t>
            </a: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:</a:t>
            </a: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 Secure Video Meetings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Cloudinary: </a:t>
            </a: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File &amp; Document Storage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rgbClr val="F4DFB7"/>
                </a:solidFill>
                <a:latin typeface="Lora Medium" pitchFamily="2" charset="0"/>
              </a:rPr>
              <a:t>Gemini AI: </a:t>
            </a:r>
            <a:r>
              <a:rPr lang="en-IN" sz="1200" dirty="0">
                <a:solidFill>
                  <a:schemeClr val="tx1"/>
                </a:solidFill>
                <a:latin typeface="Lora Medium" pitchFamily="2" charset="0"/>
              </a:rPr>
              <a:t>Legal Summaries &amp; Code Search</a:t>
            </a:r>
          </a:p>
        </p:txBody>
      </p:sp>
    </p:spTree>
    <p:extLst>
      <p:ext uri="{BB962C8B-B14F-4D97-AF65-F5344CB8AC3E}">
        <p14:creationId xmlns:p14="http://schemas.microsoft.com/office/powerpoint/2010/main" val="233854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C6C95D3C-A5BC-CAD4-9199-2DF8D867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>
            <a:extLst>
              <a:ext uri="{FF2B5EF4-FFF2-40B4-BE49-F238E27FC236}">
                <a16:creationId xmlns:a16="http://schemas.microsoft.com/office/drawing/2014/main" id="{445E7D00-6C02-4611-BD4D-72368C49E7AE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t="4121" b="4121"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>
            <a:extLst>
              <a:ext uri="{FF2B5EF4-FFF2-40B4-BE49-F238E27FC236}">
                <a16:creationId xmlns:a16="http://schemas.microsoft.com/office/drawing/2014/main" id="{0B3D9D2D-0134-F9B0-22D6-5D8D8453F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454" y="1822146"/>
            <a:ext cx="4184346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User Experience</a:t>
            </a:r>
            <a:endParaRPr sz="3600" dirty="0"/>
          </a:p>
        </p:txBody>
      </p:sp>
      <p:sp>
        <p:nvSpPr>
          <p:cNvPr id="275" name="Google Shape;275;p32">
            <a:extLst>
              <a:ext uri="{FF2B5EF4-FFF2-40B4-BE49-F238E27FC236}">
                <a16:creationId xmlns:a16="http://schemas.microsoft.com/office/drawing/2014/main" id="{99D9F61A-C706-5B7D-8859-A971B7E5FDC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276" name="Google Shape;276;p32">
            <a:extLst>
              <a:ext uri="{FF2B5EF4-FFF2-40B4-BE49-F238E27FC236}">
                <a16:creationId xmlns:a16="http://schemas.microsoft.com/office/drawing/2014/main" id="{1D7EAF31-A197-E687-DEDE-B7966DFA021F}"/>
              </a:ext>
            </a:extLst>
          </p:cNvPr>
          <p:cNvCxnSpPr>
            <a:cxnSpLocks/>
          </p:cNvCxnSpPr>
          <p:nvPr/>
        </p:nvCxnSpPr>
        <p:spPr>
          <a:xfrm>
            <a:off x="7403910" y="1708475"/>
            <a:ext cx="90364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32">
            <a:extLst>
              <a:ext uri="{FF2B5EF4-FFF2-40B4-BE49-F238E27FC236}">
                <a16:creationId xmlns:a16="http://schemas.microsoft.com/office/drawing/2014/main" id="{7363CAF4-3117-61A6-26C6-390FA952CD7F}"/>
              </a:ext>
            </a:extLst>
          </p:cNvPr>
          <p:cNvGrpSpPr/>
          <p:nvPr/>
        </p:nvGrpSpPr>
        <p:grpSpPr>
          <a:xfrm>
            <a:off x="-1760566" y="0"/>
            <a:ext cx="10904568" cy="5699721"/>
            <a:chOff x="-1760566" y="0"/>
            <a:chExt cx="10904568" cy="5699721"/>
          </a:xfrm>
        </p:grpSpPr>
        <p:pic>
          <p:nvPicPr>
            <p:cNvPr id="278" name="Google Shape;278;p32">
              <a:extLst>
                <a:ext uri="{FF2B5EF4-FFF2-40B4-BE49-F238E27FC236}">
                  <a16:creationId xmlns:a16="http://schemas.microsoft.com/office/drawing/2014/main" id="{BADED384-46FD-B8B5-05A2-0864ADB4B3F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34421" r="55416"/>
            <a:stretch/>
          </p:blipFill>
          <p:spPr>
            <a:xfrm>
              <a:off x="0" y="2352675"/>
              <a:ext cx="4076698" cy="27908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2">
              <a:extLst>
                <a:ext uri="{FF2B5EF4-FFF2-40B4-BE49-F238E27FC236}">
                  <a16:creationId xmlns:a16="http://schemas.microsoft.com/office/drawing/2014/main" id="{7BE003D0-89CA-A9C4-C410-1B0D80EC2ED3}"/>
                </a:ext>
              </a:extLst>
            </p:cNvPr>
            <p:cNvGrpSpPr/>
            <p:nvPr/>
          </p:nvGrpSpPr>
          <p:grpSpPr>
            <a:xfrm rot="398806">
              <a:off x="-1626891" y="2183852"/>
              <a:ext cx="10487332" cy="2918733"/>
              <a:chOff x="-553366" y="2927810"/>
              <a:chExt cx="6312473" cy="1756827"/>
            </a:xfrm>
          </p:grpSpPr>
          <p:sp>
            <p:nvSpPr>
              <p:cNvPr id="280" name="Google Shape;280;p32">
                <a:extLst>
                  <a:ext uri="{FF2B5EF4-FFF2-40B4-BE49-F238E27FC236}">
                    <a16:creationId xmlns:a16="http://schemas.microsoft.com/office/drawing/2014/main" id="{23827A8C-FCF8-F235-BD40-A12BDD166F70}"/>
                  </a:ext>
                </a:extLst>
              </p:cNvPr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2">
                <a:extLst>
                  <a:ext uri="{FF2B5EF4-FFF2-40B4-BE49-F238E27FC236}">
                    <a16:creationId xmlns:a16="http://schemas.microsoft.com/office/drawing/2014/main" id="{D9DA3DD0-4008-4DC4-F99C-808E6A638646}"/>
                  </a:ext>
                </a:extLst>
              </p:cNvPr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2">
                <a:extLst>
                  <a:ext uri="{FF2B5EF4-FFF2-40B4-BE49-F238E27FC236}">
                    <a16:creationId xmlns:a16="http://schemas.microsoft.com/office/drawing/2014/main" id="{E2825B57-04A8-FFB2-EA7F-B1AF7B985513}"/>
                  </a:ext>
                </a:extLst>
              </p:cNvPr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2">
                <a:extLst>
                  <a:ext uri="{FF2B5EF4-FFF2-40B4-BE49-F238E27FC236}">
                    <a16:creationId xmlns:a16="http://schemas.microsoft.com/office/drawing/2014/main" id="{75953096-850A-4025-A0BF-2A91AE10249C}"/>
                  </a:ext>
                </a:extLst>
              </p:cNvPr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2">
                <a:extLst>
                  <a:ext uri="{FF2B5EF4-FFF2-40B4-BE49-F238E27FC236}">
                    <a16:creationId xmlns:a16="http://schemas.microsoft.com/office/drawing/2014/main" id="{63401ECD-660D-8CC6-091B-669A1958615A}"/>
                  </a:ext>
                </a:extLst>
              </p:cNvPr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2">
                <a:extLst>
                  <a:ext uri="{FF2B5EF4-FFF2-40B4-BE49-F238E27FC236}">
                    <a16:creationId xmlns:a16="http://schemas.microsoft.com/office/drawing/2014/main" id="{E43174B1-4438-A84F-AF1F-83BA70B7BE06}"/>
                  </a:ext>
                </a:extLst>
              </p:cNvPr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2">
                <a:extLst>
                  <a:ext uri="{FF2B5EF4-FFF2-40B4-BE49-F238E27FC236}">
                    <a16:creationId xmlns:a16="http://schemas.microsoft.com/office/drawing/2014/main" id="{6DF6FE7A-9BC1-5075-B276-C444BCB0A2EB}"/>
                  </a:ext>
                </a:extLst>
              </p:cNvPr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2">
                <a:extLst>
                  <a:ext uri="{FF2B5EF4-FFF2-40B4-BE49-F238E27FC236}">
                    <a16:creationId xmlns:a16="http://schemas.microsoft.com/office/drawing/2014/main" id="{EE19DAD8-B636-B146-F4E0-367AF73BFDB2}"/>
                  </a:ext>
                </a:extLst>
              </p:cNvPr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2">
                <a:extLst>
                  <a:ext uri="{FF2B5EF4-FFF2-40B4-BE49-F238E27FC236}">
                    <a16:creationId xmlns:a16="http://schemas.microsoft.com/office/drawing/2014/main" id="{501BA2A9-795D-B88F-4819-DD4DCBCD7B27}"/>
                  </a:ext>
                </a:extLst>
              </p:cNvPr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2">
                <a:extLst>
                  <a:ext uri="{FF2B5EF4-FFF2-40B4-BE49-F238E27FC236}">
                    <a16:creationId xmlns:a16="http://schemas.microsoft.com/office/drawing/2014/main" id="{19890109-67C3-78FC-2E79-7D93802CAC80}"/>
                  </a:ext>
                </a:extLst>
              </p:cNvPr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0" name="Google Shape;290;p32">
              <a:extLst>
                <a:ext uri="{FF2B5EF4-FFF2-40B4-BE49-F238E27FC236}">
                  <a16:creationId xmlns:a16="http://schemas.microsoft.com/office/drawing/2014/main" id="{CE3D7585-805F-799E-73EF-422E29E904A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54142" b="4115"/>
            <a:stretch/>
          </p:blipFill>
          <p:spPr>
            <a:xfrm>
              <a:off x="0" y="2996450"/>
              <a:ext cx="9144003" cy="214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2">
              <a:extLst>
                <a:ext uri="{FF2B5EF4-FFF2-40B4-BE49-F238E27FC236}">
                  <a16:creationId xmlns:a16="http://schemas.microsoft.com/office/drawing/2014/main" id="{0818B94F-F370-4765-0463-4E335948488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622" t="19999" r="35869" b="58253"/>
            <a:stretch/>
          </p:blipFill>
          <p:spPr>
            <a:xfrm>
              <a:off x="0" y="0"/>
              <a:ext cx="4126049" cy="1009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5C659B4-A333-F489-5E1F-E005E909F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627" y="793520"/>
            <a:ext cx="854038" cy="800962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415775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1B7026B0-BD31-60CF-2E19-080BE89A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8FD9C8AC-1407-6C33-A4AE-B02BF48E6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The Client Experience (User)</a:t>
            </a:r>
            <a:endParaRPr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811269-9944-4E8C-5F27-A1973E1F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848EE5-5986-C632-23EB-D4219154B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3264E6-46D5-2AAC-36C1-3553C28CBB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48"/>
          <a:stretch>
            <a:fillRect/>
          </a:stretch>
        </p:blipFill>
        <p:spPr>
          <a:xfrm>
            <a:off x="5229924" y="1239079"/>
            <a:ext cx="3674908" cy="17824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2FAD36-3A5A-9240-AE32-DFE54B60B9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565"/>
          <a:stretch>
            <a:fillRect/>
          </a:stretch>
        </p:blipFill>
        <p:spPr>
          <a:xfrm>
            <a:off x="5221540" y="3136654"/>
            <a:ext cx="3675354" cy="16341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788102-90FE-2D1B-D60A-0EE4F0E25F29}"/>
              </a:ext>
            </a:extLst>
          </p:cNvPr>
          <p:cNvSpPr txBox="1"/>
          <p:nvPr/>
        </p:nvSpPr>
        <p:spPr>
          <a:xfrm>
            <a:off x="649540" y="1111638"/>
            <a:ext cx="4572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D2AF74"/>
                </a:solidFill>
                <a:latin typeface="Lora Medium" pitchFamily="2" charset="0"/>
              </a:rPr>
              <a:t>1. Discover Lawyers Easily</a:t>
            </a:r>
          </a:p>
          <a:p>
            <a:endParaRPr lang="en-US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can search and filter lawyers by specialization and rating.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Smart search and pagination help users find the right lawyer quickly.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US" sz="1200" b="1" dirty="0">
                <a:solidFill>
                  <a:srgbClr val="D2AF74"/>
                </a:solidFill>
                <a:latin typeface="Lora Medium" pitchFamily="2" charset="0"/>
              </a:rPr>
              <a:t>2. View Detailed Lawyer Profiles</a:t>
            </a:r>
          </a:p>
          <a:p>
            <a:endParaRPr lang="en-US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can explore complete lawyer information: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628650" lvl="1" indent="-171450">
              <a:buClr>
                <a:srgbClr val="D2AF74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Bio &amp; Specialization</a:t>
            </a:r>
          </a:p>
          <a:p>
            <a:pPr marL="628650" lvl="1" indent="-171450">
              <a:buClr>
                <a:srgbClr val="D2AF74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Experience &amp; Availability</a:t>
            </a:r>
          </a:p>
          <a:p>
            <a:pPr marL="628650" lvl="1" indent="-171450">
              <a:buClr>
                <a:srgbClr val="D2AF74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Ratings &amp; Reviews</a:t>
            </a:r>
          </a:p>
          <a:p>
            <a:pPr marL="628650" lvl="1" indent="-171450">
              <a:buClr>
                <a:srgbClr val="D2AF74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Consultation Fees</a:t>
            </a:r>
          </a:p>
          <a:p>
            <a:pPr marL="628650" lvl="1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can proceed directly to </a:t>
            </a:r>
            <a:r>
              <a:rPr lang="en-US" sz="1200" b="1" dirty="0">
                <a:solidFill>
                  <a:schemeClr val="tx1"/>
                </a:solidFill>
                <a:latin typeface="Lora Medium" pitchFamily="2" charset="0"/>
              </a:rPr>
              <a:t>booking a time slot</a:t>
            </a: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 from the profile.</a:t>
            </a:r>
          </a:p>
        </p:txBody>
      </p:sp>
    </p:spTree>
    <p:extLst>
      <p:ext uri="{BB962C8B-B14F-4D97-AF65-F5344CB8AC3E}">
        <p14:creationId xmlns:p14="http://schemas.microsoft.com/office/powerpoint/2010/main" val="34505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D6337CD3-2080-F1C9-A533-DF9AD3CC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D72F0D48-4D46-4168-3B58-8F8188F6B8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400" dirty="0">
                <a:solidFill>
                  <a:srgbClr val="F4DFB7"/>
                </a:solidFill>
              </a:rPr>
              <a:t>The Professional Experience (Lawyer)</a:t>
            </a:r>
            <a:endParaRPr sz="24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642D7C-88B0-3FA1-0B8E-525CF0DD4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0C026E-0837-2B6F-DF0D-445BB4935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5E7A6C-F08E-CA78-5D71-B2ECA89C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086" y="1297146"/>
            <a:ext cx="3988905" cy="1660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31ED2-E2BB-7A10-5DD2-3F29DA7AD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086" y="3146868"/>
            <a:ext cx="3988905" cy="1812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211576-51F4-C3E0-4133-8F9DE3DBE034}"/>
              </a:ext>
            </a:extLst>
          </p:cNvPr>
          <p:cNvSpPr txBox="1"/>
          <p:nvPr/>
        </p:nvSpPr>
        <p:spPr>
          <a:xfrm>
            <a:off x="606187" y="1307456"/>
            <a:ext cx="42868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D2AF74"/>
                </a:solidFill>
                <a:latin typeface="Lora Medium" pitchFamily="2" charset="0"/>
              </a:rPr>
              <a:t>1. Centralized Lawyer Dashboard</a:t>
            </a:r>
          </a:p>
          <a:p>
            <a:endParaRPr lang="en-US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Provides a quick snapshot of earnings, upcoming appointments and reviews.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Helps lawyers track their performance and manage consultations easily.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US" sz="1200" b="1" dirty="0">
                <a:solidFill>
                  <a:srgbClr val="D2AF74"/>
                </a:solidFill>
                <a:latin typeface="Lora Medium" pitchFamily="2" charset="0"/>
              </a:rPr>
              <a:t>2. Manage Availability &amp; Scheduling</a:t>
            </a:r>
          </a:p>
          <a:p>
            <a:endParaRPr lang="en-US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Lawyers can set their weekly availability using an intuitive schedule interface.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Slots generated automatically for users to book based on availability.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Ensures fully controlled and flexible time management.</a:t>
            </a:r>
          </a:p>
        </p:txBody>
      </p:sp>
    </p:spTree>
    <p:extLst>
      <p:ext uri="{BB962C8B-B14F-4D97-AF65-F5344CB8AC3E}">
        <p14:creationId xmlns:p14="http://schemas.microsoft.com/office/powerpoint/2010/main" val="1692778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A34778E2-C5E0-2133-A736-DD3867C0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5AE92F71-C146-C1DE-8321-D3E58330A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The AI-Powered Core</a:t>
            </a:r>
            <a:endParaRPr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2E8B9E-6186-4C2F-6191-B36DD062E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03AB84-983B-4F7E-1940-54F928805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D15972-DDBD-A727-2546-BA7CD6BEFB81}"/>
              </a:ext>
            </a:extLst>
          </p:cNvPr>
          <p:cNvSpPr txBox="1"/>
          <p:nvPr/>
        </p:nvSpPr>
        <p:spPr>
          <a:xfrm>
            <a:off x="791717" y="1298297"/>
            <a:ext cx="50326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D2AF74"/>
                </a:solidFill>
                <a:latin typeface="Lora Medium" pitchFamily="2" charset="0"/>
              </a:rPr>
              <a:t>1. Smart Legal Assistance (Chatbot)</a:t>
            </a:r>
          </a:p>
          <a:p>
            <a:endParaRPr lang="en-US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The built-in AI chatbot helps users instantly interpret legal concepts.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Provides summaries, explanations, and context-aware guidance using Google Gemini.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Enhances accessibility by simplifying complex legal text.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US" sz="1200" b="1" dirty="0">
                <a:solidFill>
                  <a:srgbClr val="D2AF74"/>
                </a:solidFill>
                <a:latin typeface="Lora Medium" pitchFamily="2" charset="0"/>
              </a:rPr>
              <a:t>2. Legal Code Explorer</a:t>
            </a:r>
          </a:p>
          <a:p>
            <a:endParaRPr lang="en-US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can search, browse, and understand Indian legal codes with AI-generated summaries.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Provides quick, accurate interpretations of long legal documents.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Helps clients get clarity before consulting a lawyer.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B5A40C-23E3-C573-B589-BFC4A0DC8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970" y="3102991"/>
            <a:ext cx="3014915" cy="1918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10EA50-9D80-1641-C1A3-0EAD2595D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7283" y="1143629"/>
            <a:ext cx="2448044" cy="186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2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3731FCF4-B2A3-32EB-BEE9-A8912749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>
            <a:extLst>
              <a:ext uri="{FF2B5EF4-FFF2-40B4-BE49-F238E27FC236}">
                <a16:creationId xmlns:a16="http://schemas.microsoft.com/office/drawing/2014/main" id="{737B7525-1286-0C5B-0C0E-2C1589CBD29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319" r="20319"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>
            <a:extLst>
              <a:ext uri="{FF2B5EF4-FFF2-40B4-BE49-F238E27FC236}">
                <a16:creationId xmlns:a16="http://schemas.microsoft.com/office/drawing/2014/main" id="{053E4585-1F39-FC92-73C1-993EC1F1B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4454" y="1822146"/>
            <a:ext cx="4184346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dirty="0"/>
              <a:t>Technology &amp; Architecture Deep Dive</a:t>
            </a:r>
            <a:endParaRPr sz="2400" dirty="0"/>
          </a:p>
        </p:txBody>
      </p:sp>
      <p:sp>
        <p:nvSpPr>
          <p:cNvPr id="275" name="Google Shape;275;p32">
            <a:extLst>
              <a:ext uri="{FF2B5EF4-FFF2-40B4-BE49-F238E27FC236}">
                <a16:creationId xmlns:a16="http://schemas.microsoft.com/office/drawing/2014/main" id="{1A7ABAC7-32B9-00AF-A842-2889F4608AA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276" name="Google Shape;276;p32">
            <a:extLst>
              <a:ext uri="{FF2B5EF4-FFF2-40B4-BE49-F238E27FC236}">
                <a16:creationId xmlns:a16="http://schemas.microsoft.com/office/drawing/2014/main" id="{210DC463-FE4B-EB98-13E4-32CE0F982C73}"/>
              </a:ext>
            </a:extLst>
          </p:cNvPr>
          <p:cNvCxnSpPr>
            <a:cxnSpLocks/>
          </p:cNvCxnSpPr>
          <p:nvPr/>
        </p:nvCxnSpPr>
        <p:spPr>
          <a:xfrm>
            <a:off x="7383439" y="1708475"/>
            <a:ext cx="92411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32">
            <a:extLst>
              <a:ext uri="{FF2B5EF4-FFF2-40B4-BE49-F238E27FC236}">
                <a16:creationId xmlns:a16="http://schemas.microsoft.com/office/drawing/2014/main" id="{9EA273C9-B741-9E4C-C0BC-569E45A442F1}"/>
              </a:ext>
            </a:extLst>
          </p:cNvPr>
          <p:cNvGrpSpPr/>
          <p:nvPr/>
        </p:nvGrpSpPr>
        <p:grpSpPr>
          <a:xfrm>
            <a:off x="-1760566" y="0"/>
            <a:ext cx="10904568" cy="5699721"/>
            <a:chOff x="-1760566" y="0"/>
            <a:chExt cx="10904568" cy="5699721"/>
          </a:xfrm>
        </p:grpSpPr>
        <p:pic>
          <p:nvPicPr>
            <p:cNvPr id="278" name="Google Shape;278;p32">
              <a:extLst>
                <a:ext uri="{FF2B5EF4-FFF2-40B4-BE49-F238E27FC236}">
                  <a16:creationId xmlns:a16="http://schemas.microsoft.com/office/drawing/2014/main" id="{39997420-6666-F33F-2640-EB4C7190664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34421" r="55416"/>
            <a:stretch/>
          </p:blipFill>
          <p:spPr>
            <a:xfrm>
              <a:off x="0" y="2352675"/>
              <a:ext cx="4076698" cy="27908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2">
              <a:extLst>
                <a:ext uri="{FF2B5EF4-FFF2-40B4-BE49-F238E27FC236}">
                  <a16:creationId xmlns:a16="http://schemas.microsoft.com/office/drawing/2014/main" id="{C302A404-35A2-EB6D-E389-92B643C213E5}"/>
                </a:ext>
              </a:extLst>
            </p:cNvPr>
            <p:cNvGrpSpPr/>
            <p:nvPr/>
          </p:nvGrpSpPr>
          <p:grpSpPr>
            <a:xfrm rot="398806">
              <a:off x="-1626891" y="2183852"/>
              <a:ext cx="10487332" cy="2918733"/>
              <a:chOff x="-553366" y="2927810"/>
              <a:chExt cx="6312473" cy="1756827"/>
            </a:xfrm>
          </p:grpSpPr>
          <p:sp>
            <p:nvSpPr>
              <p:cNvPr id="280" name="Google Shape;280;p32">
                <a:extLst>
                  <a:ext uri="{FF2B5EF4-FFF2-40B4-BE49-F238E27FC236}">
                    <a16:creationId xmlns:a16="http://schemas.microsoft.com/office/drawing/2014/main" id="{145A6C18-ED5D-9B9F-20CE-E94D6BC1FFFF}"/>
                  </a:ext>
                </a:extLst>
              </p:cNvPr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2">
                <a:extLst>
                  <a:ext uri="{FF2B5EF4-FFF2-40B4-BE49-F238E27FC236}">
                    <a16:creationId xmlns:a16="http://schemas.microsoft.com/office/drawing/2014/main" id="{A2E48A0C-3EDC-8291-CBD1-6A63831EE935}"/>
                  </a:ext>
                </a:extLst>
              </p:cNvPr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2">
                <a:extLst>
                  <a:ext uri="{FF2B5EF4-FFF2-40B4-BE49-F238E27FC236}">
                    <a16:creationId xmlns:a16="http://schemas.microsoft.com/office/drawing/2014/main" id="{864A51A0-C72A-436F-7EA3-44B823976976}"/>
                  </a:ext>
                </a:extLst>
              </p:cNvPr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2">
                <a:extLst>
                  <a:ext uri="{FF2B5EF4-FFF2-40B4-BE49-F238E27FC236}">
                    <a16:creationId xmlns:a16="http://schemas.microsoft.com/office/drawing/2014/main" id="{19969923-BF86-740A-21EA-AC2C4D77F339}"/>
                  </a:ext>
                </a:extLst>
              </p:cNvPr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2">
                <a:extLst>
                  <a:ext uri="{FF2B5EF4-FFF2-40B4-BE49-F238E27FC236}">
                    <a16:creationId xmlns:a16="http://schemas.microsoft.com/office/drawing/2014/main" id="{EF423314-08A8-7D00-FFC2-61DD170DBC9B}"/>
                  </a:ext>
                </a:extLst>
              </p:cNvPr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2">
                <a:extLst>
                  <a:ext uri="{FF2B5EF4-FFF2-40B4-BE49-F238E27FC236}">
                    <a16:creationId xmlns:a16="http://schemas.microsoft.com/office/drawing/2014/main" id="{5DF41276-E0FC-2E69-8990-CF760FF505B6}"/>
                  </a:ext>
                </a:extLst>
              </p:cNvPr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2">
                <a:extLst>
                  <a:ext uri="{FF2B5EF4-FFF2-40B4-BE49-F238E27FC236}">
                    <a16:creationId xmlns:a16="http://schemas.microsoft.com/office/drawing/2014/main" id="{AE932D52-9C03-68FD-1ED1-3C76C01F01F9}"/>
                  </a:ext>
                </a:extLst>
              </p:cNvPr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2">
                <a:extLst>
                  <a:ext uri="{FF2B5EF4-FFF2-40B4-BE49-F238E27FC236}">
                    <a16:creationId xmlns:a16="http://schemas.microsoft.com/office/drawing/2014/main" id="{84A8385A-83B3-CF6A-DC77-E1858D13452C}"/>
                  </a:ext>
                </a:extLst>
              </p:cNvPr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2">
                <a:extLst>
                  <a:ext uri="{FF2B5EF4-FFF2-40B4-BE49-F238E27FC236}">
                    <a16:creationId xmlns:a16="http://schemas.microsoft.com/office/drawing/2014/main" id="{BF00AC9D-F346-AED4-D8E6-AFD2754277D2}"/>
                  </a:ext>
                </a:extLst>
              </p:cNvPr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2">
                <a:extLst>
                  <a:ext uri="{FF2B5EF4-FFF2-40B4-BE49-F238E27FC236}">
                    <a16:creationId xmlns:a16="http://schemas.microsoft.com/office/drawing/2014/main" id="{9CC10727-629C-1E4F-76B6-3FABB18CAB42}"/>
                  </a:ext>
                </a:extLst>
              </p:cNvPr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0" name="Google Shape;290;p32">
              <a:extLst>
                <a:ext uri="{FF2B5EF4-FFF2-40B4-BE49-F238E27FC236}">
                  <a16:creationId xmlns:a16="http://schemas.microsoft.com/office/drawing/2014/main" id="{5C36FBEE-135A-13D8-821A-8655E92B32C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54142" b="4115"/>
            <a:stretch/>
          </p:blipFill>
          <p:spPr>
            <a:xfrm>
              <a:off x="0" y="2996450"/>
              <a:ext cx="9144003" cy="214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2">
              <a:extLst>
                <a:ext uri="{FF2B5EF4-FFF2-40B4-BE49-F238E27FC236}">
                  <a16:creationId xmlns:a16="http://schemas.microsoft.com/office/drawing/2014/main" id="{4510E4D3-F45D-7D94-274F-DC10E4BEEDBA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622" t="19999" r="35869" b="58253"/>
            <a:stretch/>
          </p:blipFill>
          <p:spPr>
            <a:xfrm>
              <a:off x="0" y="0"/>
              <a:ext cx="4126049" cy="1009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5177F82-4DB5-318D-9290-CC028069B9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627" y="793520"/>
            <a:ext cx="854038" cy="800962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7066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7549D600-78CF-93C2-5010-5183544A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09A3D45F-9E65-A138-54DE-E211323CD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The Technology Stack</a:t>
            </a:r>
            <a:endParaRPr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DED5A5-3883-A06A-013D-CDC3FF8A0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745BE6-A220-C578-FFD5-274F2ADE7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A912B3-DB44-26F1-2CC0-D5138D535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297123"/>
              </p:ext>
            </p:extLst>
          </p:nvPr>
        </p:nvGraphicFramePr>
        <p:xfrm>
          <a:off x="1195910" y="1254848"/>
          <a:ext cx="6865268" cy="3257960"/>
        </p:xfrm>
        <a:graphic>
          <a:graphicData uri="http://schemas.openxmlformats.org/drawingml/2006/table">
            <a:tbl>
              <a:tblPr>
                <a:noFill/>
                <a:tableStyleId>{BAC9D1B9-FBD2-402F-A6E3-9AA7A37C1A05}</a:tableStyleId>
              </a:tblPr>
              <a:tblGrid>
                <a:gridCol w="896536">
                  <a:extLst>
                    <a:ext uri="{9D8B030D-6E8A-4147-A177-3AD203B41FA5}">
                      <a16:colId xmlns:a16="http://schemas.microsoft.com/office/drawing/2014/main" val="265812233"/>
                    </a:ext>
                  </a:extLst>
                </a:gridCol>
                <a:gridCol w="1166240">
                  <a:extLst>
                    <a:ext uri="{9D8B030D-6E8A-4147-A177-3AD203B41FA5}">
                      <a16:colId xmlns:a16="http://schemas.microsoft.com/office/drawing/2014/main" val="143812739"/>
                    </a:ext>
                  </a:extLst>
                </a:gridCol>
                <a:gridCol w="4802492">
                  <a:extLst>
                    <a:ext uri="{9D8B030D-6E8A-4147-A177-3AD203B41FA5}">
                      <a16:colId xmlns:a16="http://schemas.microsoft.com/office/drawing/2014/main" val="33752291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Category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Technologies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Purpose / Description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44559"/>
                  </a:ext>
                </a:extLst>
              </a:tr>
              <a:tr h="361525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Frontend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React 18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Core UI framework for building the SPA.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083146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Vite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Fast development server and build tool.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773328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Tailwind CSS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Utility-first styling for responsive UI.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22056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React Query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Handles data fetching, caching, and server state sync.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426568"/>
                  </a:ext>
                </a:extLst>
              </a:tr>
              <a:tr h="361525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Backend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Node.js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JavaScript runtime for server-side logic.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202853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Express.js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REST API framework powering application routes.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82786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MongoDB Atlas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Cloud database storing users, lawyers, appointments, etc.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096571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JWT Auth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Secure authentication using access &amp; refresh tokens.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90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654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64AC751A-41F4-CB36-615C-8166A9DE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44D4AE51-8711-842E-3D80-2F842C0A8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The Technology Stack</a:t>
            </a:r>
            <a:endParaRPr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FD1668-3E37-D812-5CFE-707C779BC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98DCE4-99E2-22B7-5D3A-DFDB34C91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2FBFEC-29C7-90E4-55C9-E29137409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582988"/>
              </p:ext>
            </p:extLst>
          </p:nvPr>
        </p:nvGraphicFramePr>
        <p:xfrm>
          <a:off x="1195910" y="1254848"/>
          <a:ext cx="6865268" cy="2642295"/>
        </p:xfrm>
        <a:graphic>
          <a:graphicData uri="http://schemas.openxmlformats.org/drawingml/2006/table">
            <a:tbl>
              <a:tblPr>
                <a:noFill/>
                <a:tableStyleId>{BAC9D1B9-FBD2-402F-A6E3-9AA7A37C1A05}</a:tableStyleId>
              </a:tblPr>
              <a:tblGrid>
                <a:gridCol w="896536">
                  <a:extLst>
                    <a:ext uri="{9D8B030D-6E8A-4147-A177-3AD203B41FA5}">
                      <a16:colId xmlns:a16="http://schemas.microsoft.com/office/drawing/2014/main" val="265812233"/>
                    </a:ext>
                  </a:extLst>
                </a:gridCol>
                <a:gridCol w="1359745">
                  <a:extLst>
                    <a:ext uri="{9D8B030D-6E8A-4147-A177-3AD203B41FA5}">
                      <a16:colId xmlns:a16="http://schemas.microsoft.com/office/drawing/2014/main" val="143812739"/>
                    </a:ext>
                  </a:extLst>
                </a:gridCol>
                <a:gridCol w="4608987">
                  <a:extLst>
                    <a:ext uri="{9D8B030D-6E8A-4147-A177-3AD203B41FA5}">
                      <a16:colId xmlns:a16="http://schemas.microsoft.com/office/drawing/2014/main" val="3375229103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Category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Technologies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b="1" u="none" dirty="0">
                          <a:solidFill>
                            <a:srgbClr val="D4A255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Purpose / Description</a:t>
                      </a:r>
                      <a:endParaRPr sz="1200" b="1" u="none" dirty="0">
                        <a:solidFill>
                          <a:srgbClr val="D4A255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44559"/>
                  </a:ext>
                </a:extLst>
              </a:tr>
              <a:tr h="361525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 Medium"/>
                          <a:cs typeface="Lora Medium"/>
                          <a:sym typeface="Lora Medium"/>
                        </a:rPr>
                        <a:t>Services &amp; DevOps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Stripe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Handles payments, appointments checkout, and lawyer payouts via Stripe Connect.</a:t>
                      </a: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083146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Cloudinary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Secure storage for documents, profile photos, and uploads.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773328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u="none" dirty="0" err="1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Jitsi</a:t>
                      </a: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 Meet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Live video conferencing for lawyer-client consultations.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22056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Google Gemini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AI summarization and legal assistance (Code Explorer, chatbot).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426568"/>
                  </a:ext>
                </a:extLst>
              </a:tr>
              <a:tr h="361525">
                <a:tc v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dirty="0" err="1">
                          <a:solidFill>
                            <a:schemeClr val="tx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Vercel</a:t>
                      </a:r>
                      <a:endParaRPr sz="1200" u="none" dirty="0">
                        <a:solidFill>
                          <a:schemeClr val="tx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Hosting for frontend &amp; serverless backend, CI/CD &amp; </a:t>
                      </a:r>
                      <a:r>
                        <a:rPr lang="en-US" sz="1200" u="none" dirty="0" err="1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cron</a:t>
                      </a: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Lora Medium" pitchFamily="2" charset="0"/>
                          <a:ea typeface="Lora"/>
                          <a:cs typeface="Lora"/>
                          <a:sym typeface="Lora"/>
                        </a:rPr>
                        <a:t> jobs.</a:t>
                      </a:r>
                      <a:endParaRPr lang="en-IN" sz="1200" u="none" dirty="0">
                        <a:solidFill>
                          <a:schemeClr val="dk1"/>
                        </a:solidFill>
                        <a:latin typeface="Lora Medium" pitchFamily="2" charset="0"/>
                        <a:ea typeface="Lora"/>
                        <a:cs typeface="Lora"/>
                        <a:sym typeface="Lora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96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02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A1A46146-6D1E-8C79-4324-DF90B85F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3E27346D-6C9B-47FA-4DBB-2E4A00E067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Data Model</a:t>
            </a:r>
            <a:endParaRPr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F250E7-3CF5-4FA6-2934-03474E529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74B1E2-C149-1104-A41A-EB9A11659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DAE389-FE9E-E5EB-5EEC-AB48F54A751C}"/>
              </a:ext>
            </a:extLst>
          </p:cNvPr>
          <p:cNvSpPr txBox="1"/>
          <p:nvPr/>
        </p:nvSpPr>
        <p:spPr>
          <a:xfrm>
            <a:off x="843473" y="1091759"/>
            <a:ext cx="45245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User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Stores user details: name, email, role, status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Can book appointments, ask questions, write reviews, and vote on answers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Lawyer</a:t>
            </a:r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Extends a user with specialization, ratings, </a:t>
            </a:r>
            <a:r>
              <a:rPr lang="en-US" sz="1200" dirty="0" err="1">
                <a:solidFill>
                  <a:schemeClr val="tx1"/>
                </a:solidFill>
                <a:latin typeface="Lora Medium" pitchFamily="2" charset="0"/>
              </a:rPr>
              <a:t>stripeAccountId</a:t>
            </a: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, and verification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Has schedules, available timeslots, appointments, and reviews received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Appointment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Connects a user, lawyer, and a </a:t>
            </a:r>
            <a:r>
              <a:rPr lang="en-US" sz="1200" dirty="0" err="1">
                <a:solidFill>
                  <a:schemeClr val="tx1"/>
                </a:solidFill>
                <a:latin typeface="Lora Medium" pitchFamily="2" charset="0"/>
              </a:rPr>
              <a:t>timeSlot</a:t>
            </a:r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Stores meeting link, status, and booking info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Each appointment is tied to a payment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Payment</a:t>
            </a:r>
            <a:endParaRPr lang="en-IN" sz="1200" b="1" dirty="0">
              <a:solidFill>
                <a:srgbClr val="F4DFB7"/>
              </a:solidFill>
              <a:latin typeface="Lora Medium" pitchFamily="2" charset="0"/>
            </a:endParaRP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Tracks payments made by users for appointments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Includes amount, stripe transaction ID, and payment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72451-2531-6667-7A3F-F3D02490B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564" y="1247633"/>
            <a:ext cx="3535983" cy="36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1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869ADE16-0AB7-BFC0-F0AA-2798A50B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D88BE848-3AFC-2385-0001-54B3967E6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Data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DAAB6-E199-C6D9-2CA1-40D419ADA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B34AA9-F46F-8632-2BCF-9AA7F62C3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A55DA6-5D0E-72A8-DD2E-30643A7F4D4F}"/>
              </a:ext>
            </a:extLst>
          </p:cNvPr>
          <p:cNvSpPr txBox="1"/>
          <p:nvPr/>
        </p:nvSpPr>
        <p:spPr>
          <a:xfrm>
            <a:off x="810342" y="1196610"/>
            <a:ext cx="45245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Time Slot &amp; Schedule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Lawyers define availability using Schedule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System generates Time Slots automatically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can reserve slots which become appointment records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Question &amp; Answer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post questions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Lawyers provide answers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Every question can have one best answer</a:t>
            </a:r>
          </a:p>
          <a:p>
            <a:endParaRPr lang="en-IN" sz="1200" dirty="0">
              <a:solidFill>
                <a:schemeClr val="tx1"/>
              </a:solidFill>
              <a:latin typeface="Lora Medium" pitchFamily="2" charset="0"/>
            </a:endParaRPr>
          </a:p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Review &amp; Vote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Users review lawyers after consultations</a:t>
            </a:r>
          </a:p>
          <a:p>
            <a:pPr marL="171450" indent="-171450"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Lora Medium" pitchFamily="2" charset="0"/>
              </a:rPr>
              <a:t>Votes allow ranking of answers in the Q&amp;A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32179-DD0D-0A1C-BE68-867B8A865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564" y="1247633"/>
            <a:ext cx="3535983" cy="362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6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B25D4EEB-D3A4-E0EB-946F-A3F566A1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7775A65B-011D-A194-4B92-0770003DA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API Request Flow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0CC913-C622-4E87-AEE7-D2971112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DEF1DA-E3BD-5606-EEBC-E300411A0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85F646-1218-0249-11D8-43B47A3804A3}"/>
              </a:ext>
            </a:extLst>
          </p:cNvPr>
          <p:cNvSpPr txBox="1"/>
          <p:nvPr/>
        </p:nvSpPr>
        <p:spPr>
          <a:xfrm>
            <a:off x="708409" y="1091759"/>
            <a:ext cx="4990026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solidFill>
                  <a:srgbClr val="D2AF74"/>
                </a:solidFill>
                <a:latin typeface="Lora Medium" pitchFamily="2" charset="0"/>
              </a:rPr>
              <a:t>Step-by-step flow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Client sends HTTP request (frontend/third-party).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Vercel Serverless Function receives request and invokes Express app.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Express Router matches route and forwards to middleware.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Auth / Validation Middleware (</a:t>
            </a:r>
            <a:r>
              <a:rPr lang="en-US" altLang="en-US" sz="1100" dirty="0" err="1">
                <a:solidFill>
                  <a:schemeClr val="tx1"/>
                </a:solidFill>
                <a:latin typeface="Lora Medium" pitchFamily="2" charset="0"/>
              </a:rPr>
              <a:t>isLogin</a:t>
            </a: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, </a:t>
            </a:r>
            <a:r>
              <a:rPr lang="en-US" altLang="en-US" sz="1100" dirty="0" err="1">
                <a:solidFill>
                  <a:schemeClr val="tx1"/>
                </a:solidFill>
                <a:latin typeface="Lora Medium" pitchFamily="2" charset="0"/>
              </a:rPr>
              <a:t>isAdmin</a:t>
            </a: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, validators`) — verifies JWT, validates input, short-circuits on error.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Controller extracts request data, handles request/response shape, calls service layer.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Service Layer (Business Logic) performs business rules, calls Mongoose models.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Mongoose Model executes query/update against MongoDB Atlas and returns results.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100" dirty="0">
                <a:solidFill>
                  <a:schemeClr val="tx1"/>
                </a:solidFill>
                <a:latin typeface="Lora Medium" pitchFamily="2" charset="0"/>
              </a:rPr>
              <a:t>Service formats processed data → Controller sends JSON response → Vercel returns HTTP response to client.</a:t>
            </a:r>
          </a:p>
          <a:p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5A441-C204-4484-2B8F-2251D2582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796" y="1558135"/>
            <a:ext cx="3087038" cy="2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29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7923D8D7-D283-867C-0679-B35CD30F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>
            <a:extLst>
              <a:ext uri="{FF2B5EF4-FFF2-40B4-BE49-F238E27FC236}">
                <a16:creationId xmlns:a16="http://schemas.microsoft.com/office/drawing/2014/main" id="{9D83B1C4-5A97-1429-B8FE-613F713694BE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0370" r="10370"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>
            <a:extLst>
              <a:ext uri="{FF2B5EF4-FFF2-40B4-BE49-F238E27FC236}">
                <a16:creationId xmlns:a16="http://schemas.microsoft.com/office/drawing/2014/main" id="{A5F45396-44B1-F9D9-9FBC-C44C2D43C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699" y="1861299"/>
            <a:ext cx="4184346" cy="1257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Core Workflow Analysis</a:t>
            </a:r>
            <a:endParaRPr sz="3600" dirty="0"/>
          </a:p>
        </p:txBody>
      </p:sp>
      <p:sp>
        <p:nvSpPr>
          <p:cNvPr id="275" name="Google Shape;275;p32">
            <a:extLst>
              <a:ext uri="{FF2B5EF4-FFF2-40B4-BE49-F238E27FC236}">
                <a16:creationId xmlns:a16="http://schemas.microsoft.com/office/drawing/2014/main" id="{D0EBB9EB-F9C1-44AF-9833-EBB389A2636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276" name="Google Shape;276;p32">
            <a:extLst>
              <a:ext uri="{FF2B5EF4-FFF2-40B4-BE49-F238E27FC236}">
                <a16:creationId xmlns:a16="http://schemas.microsoft.com/office/drawing/2014/main" id="{83D7038F-B452-555F-EBFF-2D3AAE2BBB5A}"/>
              </a:ext>
            </a:extLst>
          </p:cNvPr>
          <p:cNvCxnSpPr>
            <a:cxnSpLocks/>
          </p:cNvCxnSpPr>
          <p:nvPr/>
        </p:nvCxnSpPr>
        <p:spPr>
          <a:xfrm>
            <a:off x="7383439" y="1708475"/>
            <a:ext cx="92411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32">
            <a:extLst>
              <a:ext uri="{FF2B5EF4-FFF2-40B4-BE49-F238E27FC236}">
                <a16:creationId xmlns:a16="http://schemas.microsoft.com/office/drawing/2014/main" id="{37055EC8-872B-9F1D-BB6F-2BF4AAE73FD4}"/>
              </a:ext>
            </a:extLst>
          </p:cNvPr>
          <p:cNvGrpSpPr/>
          <p:nvPr/>
        </p:nvGrpSpPr>
        <p:grpSpPr>
          <a:xfrm>
            <a:off x="-1760566" y="0"/>
            <a:ext cx="10904568" cy="5699721"/>
            <a:chOff x="-1760566" y="0"/>
            <a:chExt cx="10904568" cy="5699721"/>
          </a:xfrm>
        </p:grpSpPr>
        <p:pic>
          <p:nvPicPr>
            <p:cNvPr id="278" name="Google Shape;278;p32">
              <a:extLst>
                <a:ext uri="{FF2B5EF4-FFF2-40B4-BE49-F238E27FC236}">
                  <a16:creationId xmlns:a16="http://schemas.microsoft.com/office/drawing/2014/main" id="{494C9D1F-D2C3-4742-5AFD-9AEF785E304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34421" r="55416"/>
            <a:stretch/>
          </p:blipFill>
          <p:spPr>
            <a:xfrm>
              <a:off x="0" y="2352675"/>
              <a:ext cx="4076698" cy="27908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2">
              <a:extLst>
                <a:ext uri="{FF2B5EF4-FFF2-40B4-BE49-F238E27FC236}">
                  <a16:creationId xmlns:a16="http://schemas.microsoft.com/office/drawing/2014/main" id="{A9402DB4-8BE4-CFB3-20FB-61DAC588C854}"/>
                </a:ext>
              </a:extLst>
            </p:cNvPr>
            <p:cNvGrpSpPr/>
            <p:nvPr/>
          </p:nvGrpSpPr>
          <p:grpSpPr>
            <a:xfrm rot="398806">
              <a:off x="-1626891" y="2183852"/>
              <a:ext cx="10487332" cy="2918733"/>
              <a:chOff x="-553366" y="2927810"/>
              <a:chExt cx="6312473" cy="1756827"/>
            </a:xfrm>
          </p:grpSpPr>
          <p:sp>
            <p:nvSpPr>
              <p:cNvPr id="280" name="Google Shape;280;p32">
                <a:extLst>
                  <a:ext uri="{FF2B5EF4-FFF2-40B4-BE49-F238E27FC236}">
                    <a16:creationId xmlns:a16="http://schemas.microsoft.com/office/drawing/2014/main" id="{F91D422D-47F8-CEE6-B608-A4681813A363}"/>
                  </a:ext>
                </a:extLst>
              </p:cNvPr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2">
                <a:extLst>
                  <a:ext uri="{FF2B5EF4-FFF2-40B4-BE49-F238E27FC236}">
                    <a16:creationId xmlns:a16="http://schemas.microsoft.com/office/drawing/2014/main" id="{963421DD-4F29-1039-F348-A8D29B9F0E67}"/>
                  </a:ext>
                </a:extLst>
              </p:cNvPr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2">
                <a:extLst>
                  <a:ext uri="{FF2B5EF4-FFF2-40B4-BE49-F238E27FC236}">
                    <a16:creationId xmlns:a16="http://schemas.microsoft.com/office/drawing/2014/main" id="{2B57EA99-8080-08AA-37B9-0140D6C4EA0C}"/>
                  </a:ext>
                </a:extLst>
              </p:cNvPr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2">
                <a:extLst>
                  <a:ext uri="{FF2B5EF4-FFF2-40B4-BE49-F238E27FC236}">
                    <a16:creationId xmlns:a16="http://schemas.microsoft.com/office/drawing/2014/main" id="{BE9FECC0-6983-5C36-2F37-12FF376157B3}"/>
                  </a:ext>
                </a:extLst>
              </p:cNvPr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2">
                <a:extLst>
                  <a:ext uri="{FF2B5EF4-FFF2-40B4-BE49-F238E27FC236}">
                    <a16:creationId xmlns:a16="http://schemas.microsoft.com/office/drawing/2014/main" id="{CA9EA40E-BF7D-38E9-AC88-8E49B85D0E00}"/>
                  </a:ext>
                </a:extLst>
              </p:cNvPr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2">
                <a:extLst>
                  <a:ext uri="{FF2B5EF4-FFF2-40B4-BE49-F238E27FC236}">
                    <a16:creationId xmlns:a16="http://schemas.microsoft.com/office/drawing/2014/main" id="{3410652E-A9FA-A71E-7EF7-CE631E55F474}"/>
                  </a:ext>
                </a:extLst>
              </p:cNvPr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2">
                <a:extLst>
                  <a:ext uri="{FF2B5EF4-FFF2-40B4-BE49-F238E27FC236}">
                    <a16:creationId xmlns:a16="http://schemas.microsoft.com/office/drawing/2014/main" id="{F3B6A597-E827-9A26-8B18-45A04EA3B799}"/>
                  </a:ext>
                </a:extLst>
              </p:cNvPr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2">
                <a:extLst>
                  <a:ext uri="{FF2B5EF4-FFF2-40B4-BE49-F238E27FC236}">
                    <a16:creationId xmlns:a16="http://schemas.microsoft.com/office/drawing/2014/main" id="{83DDF5EA-3E5C-D3A8-B983-ED6256B974DB}"/>
                  </a:ext>
                </a:extLst>
              </p:cNvPr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2">
                <a:extLst>
                  <a:ext uri="{FF2B5EF4-FFF2-40B4-BE49-F238E27FC236}">
                    <a16:creationId xmlns:a16="http://schemas.microsoft.com/office/drawing/2014/main" id="{4B9E8426-BDDC-5EFA-6AAB-5FF209859D06}"/>
                  </a:ext>
                </a:extLst>
              </p:cNvPr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2">
                <a:extLst>
                  <a:ext uri="{FF2B5EF4-FFF2-40B4-BE49-F238E27FC236}">
                    <a16:creationId xmlns:a16="http://schemas.microsoft.com/office/drawing/2014/main" id="{1B99F198-31BB-3813-22E1-F6DAA101790D}"/>
                  </a:ext>
                </a:extLst>
              </p:cNvPr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0" name="Google Shape;290;p32">
              <a:extLst>
                <a:ext uri="{FF2B5EF4-FFF2-40B4-BE49-F238E27FC236}">
                  <a16:creationId xmlns:a16="http://schemas.microsoft.com/office/drawing/2014/main" id="{45CF511C-038C-C674-9FC9-854DD91D757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54142" b="4115"/>
            <a:stretch/>
          </p:blipFill>
          <p:spPr>
            <a:xfrm>
              <a:off x="0" y="2996450"/>
              <a:ext cx="9144003" cy="214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2">
              <a:extLst>
                <a:ext uri="{FF2B5EF4-FFF2-40B4-BE49-F238E27FC236}">
                  <a16:creationId xmlns:a16="http://schemas.microsoft.com/office/drawing/2014/main" id="{3C896070-4E66-4E64-1F00-3A3849E918D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622" t="19999" r="35869" b="58253"/>
            <a:stretch/>
          </p:blipFill>
          <p:spPr>
            <a:xfrm>
              <a:off x="0" y="0"/>
              <a:ext cx="4126049" cy="1009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E73E951-61FC-2068-03E6-41A32A047E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627" y="793520"/>
            <a:ext cx="854038" cy="800962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8525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21605C66-B433-1621-ED5B-BC1E0D8E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17BB5373-C3A7-2F2C-82C1-316586284D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Appointment Booking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8F895C-950B-2FD8-E2D8-A80971BBF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4A9F33-7280-2208-E0D0-D56D82190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0F7577-DC0E-AA5C-DEEA-27B891515430}"/>
              </a:ext>
            </a:extLst>
          </p:cNvPr>
          <p:cNvSpPr txBox="1"/>
          <p:nvPr/>
        </p:nvSpPr>
        <p:spPr>
          <a:xfrm>
            <a:off x="1125853" y="1091759"/>
            <a:ext cx="356356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Step-by-step Process</a:t>
            </a:r>
          </a:p>
          <a:p>
            <a:endParaRPr lang="en-IN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User Browsing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logs in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Searches/browses lawyers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Opens a lawyer’s profile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Clicks </a:t>
            </a:r>
            <a:r>
              <a:rPr lang="en-US" altLang="en-US" sz="1200" b="1" dirty="0">
                <a:solidFill>
                  <a:schemeClr val="tx1"/>
                </a:solidFill>
                <a:latin typeface="Lora Medium" pitchFamily="2" charset="0"/>
              </a:rPr>
              <a:t>“Book Appointment”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2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Slot Selection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selects a date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System checks slot availability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If slots exist → display time slots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If not → suggest alternative dates</a:t>
            </a:r>
          </a:p>
          <a:p>
            <a:pPr marL="228600" indent="-228600">
              <a:buClr>
                <a:srgbClr val="D2AF74"/>
              </a:buClr>
              <a:buFont typeface="+mj-lt"/>
              <a:buAutoNum type="arabicPeriod"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3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Booking Review &amp; Payment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selects a time slot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Reviews appointment details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Proceeds to Stripe Checkout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Enters payment information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Stripe validates payment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5E369-2569-B073-EE72-CAC407459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106" y="1184903"/>
            <a:ext cx="3563561" cy="374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90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A0C507FA-887D-6BC6-1422-7A582DBA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F9A6F590-8985-6448-0997-CD831B813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Appointment Booking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794D6E-72FF-113F-6A48-4FED23F2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885EEE-E0AC-90EE-F0F6-FE3368EB9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21686B-DF3B-2725-EA8D-2083F845C8BC}"/>
              </a:ext>
            </a:extLst>
          </p:cNvPr>
          <p:cNvSpPr txBox="1"/>
          <p:nvPr/>
        </p:nvSpPr>
        <p:spPr>
          <a:xfrm>
            <a:off x="1044719" y="1163479"/>
            <a:ext cx="416176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Step-by-step Process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4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After Successful Payment</a:t>
            </a:r>
          </a:p>
          <a:p>
            <a:pPr marL="228600" indent="-228600">
              <a:buClr>
                <a:srgbClr val="D2AF74"/>
              </a:buClr>
              <a:buFont typeface="+mj-lt"/>
              <a:buAutoNum type="arabicPeriod" startAt="4"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Appointment record is created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Slot availability is updated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A secure </a:t>
            </a: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Jitsi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 meeting link is generated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&amp; Lawyer receive notifications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dashboard updates automatically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5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Completion</a:t>
            </a:r>
          </a:p>
          <a:p>
            <a:pPr marL="228600" indent="-228600">
              <a:buClr>
                <a:srgbClr val="D2AF74"/>
              </a:buClr>
              <a:buFont typeface="+mj-lt"/>
              <a:buAutoNum type="arabicPeriod" startAt="5"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Booking confirmation is displayed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can now attend the meeting through the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E6AF1-BA0D-CFCF-1504-6C18C0F03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106" y="1184903"/>
            <a:ext cx="3563561" cy="374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04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D7CF2E2C-8157-1643-9B24-3C79D9D96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2F68F8E7-44BE-7AED-68D5-0E4F987F1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Stripe Payment Flow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F3E032-183F-CE24-D351-46A3C81AA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DE5920-A9F6-E79F-300D-8FFAA0EC2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A1E61-B4BE-EDB9-A7EB-60C72EED3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890" y="1292087"/>
            <a:ext cx="4057101" cy="3393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4C1FC3-5779-5DB4-180E-AC73344E8ACD}"/>
              </a:ext>
            </a:extLst>
          </p:cNvPr>
          <p:cNvSpPr txBox="1"/>
          <p:nvPr/>
        </p:nvSpPr>
        <p:spPr>
          <a:xfrm>
            <a:off x="900566" y="1081449"/>
            <a:ext cx="39828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Step-by-Step Payment &amp; Payout Logic</a:t>
            </a:r>
          </a:p>
          <a:p>
            <a:endParaRPr lang="en-IN" sz="1200" b="1" dirty="0">
              <a:solidFill>
                <a:srgbClr val="D2AF74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User Initiates Payment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confirms the booking on the frontend.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Frontend sends a request to backend:</a:t>
            </a:r>
            <a:b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</a:b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POST /payment/create-session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2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Backend Creates Stripe Checkout Session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Backend creates a Stripe Checkout Session linked to the lawyer’s Connect Account.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Stripe returns a Checkout URL, which is sent back to the frontend.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is redirected to the Stripe payment page.</a:t>
            </a:r>
          </a:p>
          <a:p>
            <a:pPr marL="228600" indent="-228600">
              <a:buClr>
                <a:srgbClr val="D2AF74"/>
              </a:buClr>
              <a:buFont typeface="+mj-lt"/>
              <a:buAutoNum type="arabicPeriod"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3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User Completes Payment on Stripe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enters card details using Stripe’s secure form.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Stripe processes the payment and applies split payout:</a:t>
            </a:r>
          </a:p>
          <a:p>
            <a:pPr marL="80803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95% → Lawyer</a:t>
            </a:r>
          </a:p>
          <a:p>
            <a:pPr marL="80803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5% → Platform Fee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tx1"/>
              </a:solidFill>
              <a:latin typeface="Lo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39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8A7799A2-4375-066F-7089-4439C660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1FED3251-A632-541E-551C-D5F17B0A96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Stripe Payment Flow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0F51FA-AE2B-B807-806B-B774AEE0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121567-F5EA-D364-15F6-F5666AECC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9BC06A-315E-33A5-235A-ADD9582BB742}"/>
              </a:ext>
            </a:extLst>
          </p:cNvPr>
          <p:cNvSpPr txBox="1"/>
          <p:nvPr/>
        </p:nvSpPr>
        <p:spPr>
          <a:xfrm>
            <a:off x="708409" y="1292087"/>
            <a:ext cx="396298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Step-by-Step Payment &amp; Payout Logic</a:t>
            </a:r>
          </a:p>
          <a:p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4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Stripe Webhook Notification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Stripe sends a webhook event </a:t>
            </a: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payment_succeeded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 to the backend.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Backend verifies the webhook and then:</a:t>
            </a:r>
          </a:p>
          <a:p>
            <a:pPr marL="630238" lvl="0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Updates appointment status</a:t>
            </a:r>
          </a:p>
          <a:p>
            <a:pPr marL="630238" lvl="0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Sends confirmation email</a:t>
            </a:r>
          </a:p>
          <a:p>
            <a:pPr marL="630238" lvl="0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Ø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Generates and attaches the </a:t>
            </a: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Jitsi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 meeting link</a:t>
            </a: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endParaRPr lang="en-US" altLang="en-US" sz="1200" dirty="0">
              <a:solidFill>
                <a:schemeClr val="tx1"/>
              </a:solidFill>
              <a:latin typeface="Lora Medium" pitchFamily="2" charset="0"/>
            </a:endParaRP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228600" indent="-228600">
              <a:buClr>
                <a:srgbClr val="D2AF74"/>
              </a:buClr>
              <a:buFont typeface="+mj-lt"/>
              <a:buAutoNum type="arabicPeriod" startAt="5"/>
            </a:pPr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Success Redirect</a:t>
            </a:r>
          </a:p>
          <a:p>
            <a:pPr>
              <a:buClr>
                <a:srgbClr val="D2AF74"/>
              </a:buClr>
            </a:pP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357188" lvl="0" indent="-177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User is redirected to a Success page on the frontend.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D45B22-477B-E124-8EDB-BB92F0F4E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890" y="1292087"/>
            <a:ext cx="4057101" cy="339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92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9B4D3C4B-7C5D-8E0B-3C2B-8FCBB32A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>
            <a:extLst>
              <a:ext uri="{FF2B5EF4-FFF2-40B4-BE49-F238E27FC236}">
                <a16:creationId xmlns:a16="http://schemas.microsoft.com/office/drawing/2014/main" id="{099833CB-B9A9-4622-CA58-ACBB094A9674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7708" r="27708"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>
            <a:extLst>
              <a:ext uri="{FF2B5EF4-FFF2-40B4-BE49-F238E27FC236}">
                <a16:creationId xmlns:a16="http://schemas.microsoft.com/office/drawing/2014/main" id="{606461FE-6076-F3A4-317A-6BCCE9EFEB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699" y="1861299"/>
            <a:ext cx="4184346" cy="1257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/>
              <a:t>Deployment &amp; Project Management</a:t>
            </a:r>
            <a:endParaRPr sz="2800" dirty="0"/>
          </a:p>
        </p:txBody>
      </p:sp>
      <p:sp>
        <p:nvSpPr>
          <p:cNvPr id="275" name="Google Shape;275;p32">
            <a:extLst>
              <a:ext uri="{FF2B5EF4-FFF2-40B4-BE49-F238E27FC236}">
                <a16:creationId xmlns:a16="http://schemas.microsoft.com/office/drawing/2014/main" id="{A31DFB4B-C043-DFB0-D667-F1F6B61A5B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276" name="Google Shape;276;p32">
            <a:extLst>
              <a:ext uri="{FF2B5EF4-FFF2-40B4-BE49-F238E27FC236}">
                <a16:creationId xmlns:a16="http://schemas.microsoft.com/office/drawing/2014/main" id="{6FB7DBA8-84B8-A920-286F-91BB4B024723}"/>
              </a:ext>
            </a:extLst>
          </p:cNvPr>
          <p:cNvCxnSpPr>
            <a:cxnSpLocks/>
          </p:cNvCxnSpPr>
          <p:nvPr/>
        </p:nvCxnSpPr>
        <p:spPr>
          <a:xfrm>
            <a:off x="7362967" y="1708475"/>
            <a:ext cx="94458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32">
            <a:extLst>
              <a:ext uri="{FF2B5EF4-FFF2-40B4-BE49-F238E27FC236}">
                <a16:creationId xmlns:a16="http://schemas.microsoft.com/office/drawing/2014/main" id="{FE64B6C5-3AFB-7A75-9483-84795B8C7E62}"/>
              </a:ext>
            </a:extLst>
          </p:cNvPr>
          <p:cNvGrpSpPr/>
          <p:nvPr/>
        </p:nvGrpSpPr>
        <p:grpSpPr>
          <a:xfrm>
            <a:off x="-1760566" y="0"/>
            <a:ext cx="10904568" cy="5699721"/>
            <a:chOff x="-1760566" y="0"/>
            <a:chExt cx="10904568" cy="5699721"/>
          </a:xfrm>
        </p:grpSpPr>
        <p:pic>
          <p:nvPicPr>
            <p:cNvPr id="278" name="Google Shape;278;p32">
              <a:extLst>
                <a:ext uri="{FF2B5EF4-FFF2-40B4-BE49-F238E27FC236}">
                  <a16:creationId xmlns:a16="http://schemas.microsoft.com/office/drawing/2014/main" id="{F763D446-3AC5-AF29-731E-EABF5554306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34421" r="55416"/>
            <a:stretch/>
          </p:blipFill>
          <p:spPr>
            <a:xfrm>
              <a:off x="0" y="2352675"/>
              <a:ext cx="4076698" cy="27908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2">
              <a:extLst>
                <a:ext uri="{FF2B5EF4-FFF2-40B4-BE49-F238E27FC236}">
                  <a16:creationId xmlns:a16="http://schemas.microsoft.com/office/drawing/2014/main" id="{08499D30-2E46-1644-4F63-0757F4D8591F}"/>
                </a:ext>
              </a:extLst>
            </p:cNvPr>
            <p:cNvGrpSpPr/>
            <p:nvPr/>
          </p:nvGrpSpPr>
          <p:grpSpPr>
            <a:xfrm rot="398806">
              <a:off x="-1626891" y="2183852"/>
              <a:ext cx="10487332" cy="2918733"/>
              <a:chOff x="-553366" y="2927810"/>
              <a:chExt cx="6312473" cy="1756827"/>
            </a:xfrm>
          </p:grpSpPr>
          <p:sp>
            <p:nvSpPr>
              <p:cNvPr id="280" name="Google Shape;280;p32">
                <a:extLst>
                  <a:ext uri="{FF2B5EF4-FFF2-40B4-BE49-F238E27FC236}">
                    <a16:creationId xmlns:a16="http://schemas.microsoft.com/office/drawing/2014/main" id="{9001C1F5-D878-7CF0-1064-242D981289F8}"/>
                  </a:ext>
                </a:extLst>
              </p:cNvPr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2">
                <a:extLst>
                  <a:ext uri="{FF2B5EF4-FFF2-40B4-BE49-F238E27FC236}">
                    <a16:creationId xmlns:a16="http://schemas.microsoft.com/office/drawing/2014/main" id="{A05B7E73-30C7-F4BE-8A10-8D72ABD0F41C}"/>
                  </a:ext>
                </a:extLst>
              </p:cNvPr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2">
                <a:extLst>
                  <a:ext uri="{FF2B5EF4-FFF2-40B4-BE49-F238E27FC236}">
                    <a16:creationId xmlns:a16="http://schemas.microsoft.com/office/drawing/2014/main" id="{21DAFD03-43C6-20AE-E6C4-6BED864D1EC1}"/>
                  </a:ext>
                </a:extLst>
              </p:cNvPr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2">
                <a:extLst>
                  <a:ext uri="{FF2B5EF4-FFF2-40B4-BE49-F238E27FC236}">
                    <a16:creationId xmlns:a16="http://schemas.microsoft.com/office/drawing/2014/main" id="{7CB187FD-B2C4-AC87-D8BB-B819043B6C83}"/>
                  </a:ext>
                </a:extLst>
              </p:cNvPr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2">
                <a:extLst>
                  <a:ext uri="{FF2B5EF4-FFF2-40B4-BE49-F238E27FC236}">
                    <a16:creationId xmlns:a16="http://schemas.microsoft.com/office/drawing/2014/main" id="{290EFA05-C4F7-57EF-20C9-27EE63CB93BE}"/>
                  </a:ext>
                </a:extLst>
              </p:cNvPr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2">
                <a:extLst>
                  <a:ext uri="{FF2B5EF4-FFF2-40B4-BE49-F238E27FC236}">
                    <a16:creationId xmlns:a16="http://schemas.microsoft.com/office/drawing/2014/main" id="{FF8223A5-60F1-71B7-67E3-707EC47A7FDD}"/>
                  </a:ext>
                </a:extLst>
              </p:cNvPr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2">
                <a:extLst>
                  <a:ext uri="{FF2B5EF4-FFF2-40B4-BE49-F238E27FC236}">
                    <a16:creationId xmlns:a16="http://schemas.microsoft.com/office/drawing/2014/main" id="{AF71CC70-00CA-7585-CDAF-052690BC4273}"/>
                  </a:ext>
                </a:extLst>
              </p:cNvPr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2">
                <a:extLst>
                  <a:ext uri="{FF2B5EF4-FFF2-40B4-BE49-F238E27FC236}">
                    <a16:creationId xmlns:a16="http://schemas.microsoft.com/office/drawing/2014/main" id="{57CF1F4C-DABB-13C2-08F3-AE4B9037C47D}"/>
                  </a:ext>
                </a:extLst>
              </p:cNvPr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2">
                <a:extLst>
                  <a:ext uri="{FF2B5EF4-FFF2-40B4-BE49-F238E27FC236}">
                    <a16:creationId xmlns:a16="http://schemas.microsoft.com/office/drawing/2014/main" id="{E7CACFA1-53DF-65B0-C207-26F518890AED}"/>
                  </a:ext>
                </a:extLst>
              </p:cNvPr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2">
                <a:extLst>
                  <a:ext uri="{FF2B5EF4-FFF2-40B4-BE49-F238E27FC236}">
                    <a16:creationId xmlns:a16="http://schemas.microsoft.com/office/drawing/2014/main" id="{439DB0EF-DA9C-0498-29FB-0EF1B1C7909E}"/>
                  </a:ext>
                </a:extLst>
              </p:cNvPr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0" name="Google Shape;290;p32">
              <a:extLst>
                <a:ext uri="{FF2B5EF4-FFF2-40B4-BE49-F238E27FC236}">
                  <a16:creationId xmlns:a16="http://schemas.microsoft.com/office/drawing/2014/main" id="{BA8CD8CE-CC27-50C1-1A9A-C68AF397B97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54142" b="4115"/>
            <a:stretch/>
          </p:blipFill>
          <p:spPr>
            <a:xfrm>
              <a:off x="0" y="2996450"/>
              <a:ext cx="9144003" cy="214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2">
              <a:extLst>
                <a:ext uri="{FF2B5EF4-FFF2-40B4-BE49-F238E27FC236}">
                  <a16:creationId xmlns:a16="http://schemas.microsoft.com/office/drawing/2014/main" id="{23FD52E3-1FEB-D10D-16E2-37C15BDC6A7E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622" t="19999" r="35869" b="58253"/>
            <a:stretch/>
          </p:blipFill>
          <p:spPr>
            <a:xfrm>
              <a:off x="0" y="0"/>
              <a:ext cx="4126049" cy="1009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CDE3D4E-5FBD-1264-D3B1-F6388FB6C9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627" y="793520"/>
            <a:ext cx="854038" cy="800962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5302B4-F6CD-6061-77F9-8CEE9F930AAD}"/>
              </a:ext>
            </a:extLst>
          </p:cNvPr>
          <p:cNvSpPr txBox="1"/>
          <p:nvPr/>
        </p:nvSpPr>
        <p:spPr>
          <a:xfrm>
            <a:off x="0" y="5143500"/>
            <a:ext cx="4076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blog.kagesenshi.org/2021/02/migrate-to-github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9" tooltip="https://creativecommons.org/licenses/by/3.0/"/>
              </a:rPr>
              <a:t>CC BY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59514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7A45F47D-B897-A1E4-71D0-7E3E2B21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C52F33E9-00D5-5C5C-8EC4-7922E3C78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CI/CD Pipeline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1EA2F5-540E-0D0E-BF01-D7A2A82A9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3FA5AE-D6C0-C85F-5984-75428F716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E5F928-9EE1-EE9A-EBBE-E6E6A1EBDCAA}"/>
              </a:ext>
            </a:extLst>
          </p:cNvPr>
          <p:cNvSpPr txBox="1"/>
          <p:nvPr/>
        </p:nvSpPr>
        <p:spPr>
          <a:xfrm>
            <a:off x="856726" y="1066463"/>
            <a:ext cx="4404388" cy="3940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D2AF74"/>
                </a:solidFill>
                <a:latin typeface="Lora Medium" pitchFamily="2" charset="0"/>
              </a:rPr>
              <a:t>Step-by-step Process</a:t>
            </a:r>
            <a:endParaRPr lang="en-US" sz="1200" dirty="0">
              <a:solidFill>
                <a:srgbClr val="F4DFB7"/>
              </a:solidFill>
              <a:latin typeface="Lora Medium" pitchFamily="2" charset="0"/>
            </a:endParaRP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Developer pushes code to GitHub (</a:t>
            </a: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monorepo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).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GitHub webhook triggers Vercel build.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Vercel installs deps and builds /frontend (Vite) and /backend (serverless functions).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Successful builds → deploy frontend to edge CDN and backend as serverless APIs.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Run automated health checks and integration tests.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If checks pass → update production URL &amp; invalidate CDN cache; if fail → rollback and alert.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Vercel handles preview deployments per PR; env vars and secrets managed in Vercel dashboard.</a:t>
            </a:r>
          </a:p>
          <a:p>
            <a:pPr marL="357188" lvl="0" indent="-177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4DFB7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Scheduled jobs (slot updates, cleanup) run via Vercel Cron.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A3956-5ED2-4E50-6331-44C271843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375" y="1314237"/>
            <a:ext cx="3637415" cy="326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67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50BEAE0C-C66A-CC70-BEC0-C8E45987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2E84864C-93B8-EB95-E591-4684B876E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rgbClr val="F4DFB7"/>
                </a:solidFill>
              </a:rPr>
              <a:t>Automation: Cron Jobs</a:t>
            </a:r>
            <a:endParaRPr lang="en-IN" sz="2800" dirty="0">
              <a:solidFill>
                <a:srgbClr val="F4DFB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BCC7B-82CD-D114-73A4-FC46C9A95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378AA4-7D3E-2CBE-8A8C-BDF9AA701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8560F6-DA27-F2D6-070A-B86E11824D52}"/>
              </a:ext>
            </a:extLst>
          </p:cNvPr>
          <p:cNvSpPr txBox="1"/>
          <p:nvPr/>
        </p:nvSpPr>
        <p:spPr>
          <a:xfrm>
            <a:off x="889855" y="1195213"/>
            <a:ext cx="7160839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Lora Medium" pitchFamily="2" charset="0"/>
              </a:rPr>
              <a:t>Scheduled backend tasks run daily (via Vercel Cron) to keep data consistent, free stale entries, and regenerate availability.</a:t>
            </a:r>
          </a:p>
          <a:p>
            <a:endParaRPr lang="en-US" dirty="0">
              <a:solidFill>
                <a:schemeClr val="tx1"/>
              </a:solidFill>
              <a:latin typeface="Lora Medium" pitchFamily="2" charset="0"/>
            </a:endParaRP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Runs as a secure Vercel Cron job (protected by CRON_SECRET).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Marks past appointments as completed when their timeslot ended.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Deletes expired time slots (unless booked) and removes old pending payments.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Generates new time slots from lawyer schedules (e.g., next 3 days).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Expires finished lawyer subscriptions and refreshes </a:t>
            </a:r>
            <a:r>
              <a:rPr lang="en-US" altLang="en-US" dirty="0" err="1">
                <a:solidFill>
                  <a:schemeClr val="tx1"/>
                </a:solidFill>
                <a:latin typeface="Lora Medium" pitchFamily="2" charset="0"/>
              </a:rPr>
              <a:t>availableToday</a:t>
            </a: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 flags.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Cleans transient data (e.g., old contact messages) and logs the operation.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Lora Medium" pitchFamily="2" charset="0"/>
              </a:rPr>
              <a:t>Includes error handling, idempotency, and logging for safe, repeatable runs.</a:t>
            </a:r>
          </a:p>
          <a:p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80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255923C0-D330-DF40-3C27-9698F312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>
            <a:extLst>
              <a:ext uri="{FF2B5EF4-FFF2-40B4-BE49-F238E27FC236}">
                <a16:creationId xmlns:a16="http://schemas.microsoft.com/office/drawing/2014/main" id="{3DB78433-3857-71BB-56BD-DE1F839D45D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0370" r="10370"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>
            <a:extLst>
              <a:ext uri="{FF2B5EF4-FFF2-40B4-BE49-F238E27FC236}">
                <a16:creationId xmlns:a16="http://schemas.microsoft.com/office/drawing/2014/main" id="{83EB0F88-10E9-432D-FE80-CE3882607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699" y="1861299"/>
            <a:ext cx="4184346" cy="1257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Conclusion &amp; Future Scope</a:t>
            </a:r>
            <a:endParaRPr sz="3600" dirty="0"/>
          </a:p>
        </p:txBody>
      </p:sp>
      <p:sp>
        <p:nvSpPr>
          <p:cNvPr id="275" name="Google Shape;275;p32">
            <a:extLst>
              <a:ext uri="{FF2B5EF4-FFF2-40B4-BE49-F238E27FC236}">
                <a16:creationId xmlns:a16="http://schemas.microsoft.com/office/drawing/2014/main" id="{D7451D09-5973-F275-A508-B6E98CB81F4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972300" y="725725"/>
            <a:ext cx="14565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276" name="Google Shape;276;p32">
            <a:extLst>
              <a:ext uri="{FF2B5EF4-FFF2-40B4-BE49-F238E27FC236}">
                <a16:creationId xmlns:a16="http://schemas.microsoft.com/office/drawing/2014/main" id="{5E0E9C85-A480-1870-5C76-3EA96B38C777}"/>
              </a:ext>
            </a:extLst>
          </p:cNvPr>
          <p:cNvCxnSpPr>
            <a:cxnSpLocks/>
          </p:cNvCxnSpPr>
          <p:nvPr/>
        </p:nvCxnSpPr>
        <p:spPr>
          <a:xfrm>
            <a:off x="7362967" y="1708475"/>
            <a:ext cx="94458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32">
            <a:extLst>
              <a:ext uri="{FF2B5EF4-FFF2-40B4-BE49-F238E27FC236}">
                <a16:creationId xmlns:a16="http://schemas.microsoft.com/office/drawing/2014/main" id="{C75907CF-F2DC-BB0A-376B-CCF30BA4CD8E}"/>
              </a:ext>
            </a:extLst>
          </p:cNvPr>
          <p:cNvGrpSpPr/>
          <p:nvPr/>
        </p:nvGrpSpPr>
        <p:grpSpPr>
          <a:xfrm>
            <a:off x="-1760566" y="0"/>
            <a:ext cx="10904568" cy="5699721"/>
            <a:chOff x="-1760566" y="0"/>
            <a:chExt cx="10904568" cy="5699721"/>
          </a:xfrm>
        </p:grpSpPr>
        <p:pic>
          <p:nvPicPr>
            <p:cNvPr id="278" name="Google Shape;278;p32">
              <a:extLst>
                <a:ext uri="{FF2B5EF4-FFF2-40B4-BE49-F238E27FC236}">
                  <a16:creationId xmlns:a16="http://schemas.microsoft.com/office/drawing/2014/main" id="{C8ED0F09-E542-A118-D4D3-490D699B05F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34421" r="55416"/>
            <a:stretch/>
          </p:blipFill>
          <p:spPr>
            <a:xfrm>
              <a:off x="0" y="2352675"/>
              <a:ext cx="4076698" cy="27908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" name="Google Shape;279;p32">
              <a:extLst>
                <a:ext uri="{FF2B5EF4-FFF2-40B4-BE49-F238E27FC236}">
                  <a16:creationId xmlns:a16="http://schemas.microsoft.com/office/drawing/2014/main" id="{10C9D09F-623F-8CE7-5210-24C52419878D}"/>
                </a:ext>
              </a:extLst>
            </p:cNvPr>
            <p:cNvGrpSpPr/>
            <p:nvPr/>
          </p:nvGrpSpPr>
          <p:grpSpPr>
            <a:xfrm rot="398806">
              <a:off x="-1626891" y="2183852"/>
              <a:ext cx="10487332" cy="2918733"/>
              <a:chOff x="-553366" y="2927810"/>
              <a:chExt cx="6312473" cy="1756827"/>
            </a:xfrm>
          </p:grpSpPr>
          <p:sp>
            <p:nvSpPr>
              <p:cNvPr id="280" name="Google Shape;280;p32">
                <a:extLst>
                  <a:ext uri="{FF2B5EF4-FFF2-40B4-BE49-F238E27FC236}">
                    <a16:creationId xmlns:a16="http://schemas.microsoft.com/office/drawing/2014/main" id="{FB33619D-5185-5F6A-37BB-64D172EDFE86}"/>
                  </a:ext>
                </a:extLst>
              </p:cNvPr>
              <p:cNvSpPr/>
              <p:nvPr/>
            </p:nvSpPr>
            <p:spPr>
              <a:xfrm rot="5221006">
                <a:off x="2245370" y="794418"/>
                <a:ext cx="901093" cy="5450310"/>
              </a:xfrm>
              <a:custGeom>
                <a:avLst/>
                <a:gdLst/>
                <a:ahLst/>
                <a:cxnLst/>
                <a:rect l="l" t="t" r="r" b="b"/>
                <a:pathLst>
                  <a:path w="18721" h="113235" fill="none" extrusionOk="0">
                    <a:moveTo>
                      <a:pt x="0" y="113235"/>
                    </a:moveTo>
                    <a:lnTo>
                      <a:pt x="18721" y="1"/>
                    </a:lnTo>
                  </a:path>
                </a:pathLst>
              </a:custGeom>
              <a:noFill/>
              <a:ln w="47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2">
                <a:extLst>
                  <a:ext uri="{FF2B5EF4-FFF2-40B4-BE49-F238E27FC236}">
                    <a16:creationId xmlns:a16="http://schemas.microsoft.com/office/drawing/2014/main" id="{81911766-E11B-F73E-E985-CDDCF384F783}"/>
                  </a:ext>
                </a:extLst>
              </p:cNvPr>
              <p:cNvSpPr/>
              <p:nvPr/>
            </p:nvSpPr>
            <p:spPr>
              <a:xfrm rot="5221006">
                <a:off x="2227412" y="802733"/>
                <a:ext cx="916206" cy="5541184"/>
              </a:xfrm>
              <a:custGeom>
                <a:avLst/>
                <a:gdLst/>
                <a:ahLst/>
                <a:cxnLst/>
                <a:rect l="l" t="t" r="r" b="b"/>
                <a:pathLst>
                  <a:path w="19035" h="115123" fill="none" extrusionOk="0">
                    <a:moveTo>
                      <a:pt x="1" y="115123"/>
                    </a:moveTo>
                    <a:lnTo>
                      <a:pt x="19035" y="0"/>
                    </a:lnTo>
                  </a:path>
                </a:pathLst>
              </a:custGeom>
              <a:noFill/>
              <a:ln w="43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2">
                <a:extLst>
                  <a:ext uri="{FF2B5EF4-FFF2-40B4-BE49-F238E27FC236}">
                    <a16:creationId xmlns:a16="http://schemas.microsoft.com/office/drawing/2014/main" id="{9CD7D305-8C5E-2DA1-7079-2D52627433BB}"/>
                  </a:ext>
                </a:extLst>
              </p:cNvPr>
              <p:cNvSpPr/>
              <p:nvPr/>
            </p:nvSpPr>
            <p:spPr>
              <a:xfrm rot="5221006">
                <a:off x="2209639" y="811496"/>
                <a:ext cx="931320" cy="5631818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17006" fill="none" extrusionOk="0">
                    <a:moveTo>
                      <a:pt x="0" y="117006"/>
                    </a:moveTo>
                    <a:lnTo>
                      <a:pt x="19348" y="1"/>
                    </a:lnTo>
                  </a:path>
                </a:pathLst>
              </a:custGeom>
              <a:noFill/>
              <a:ln w="38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2">
                <a:extLst>
                  <a:ext uri="{FF2B5EF4-FFF2-40B4-BE49-F238E27FC236}">
                    <a16:creationId xmlns:a16="http://schemas.microsoft.com/office/drawing/2014/main" id="{93CF7DF0-2A32-CC09-E8C5-FB14DB62AF05}"/>
                  </a:ext>
                </a:extLst>
              </p:cNvPr>
              <p:cNvSpPr/>
              <p:nvPr/>
            </p:nvSpPr>
            <p:spPr>
              <a:xfrm rot="5221006">
                <a:off x="2191674" y="819819"/>
                <a:ext cx="946145" cy="5722404"/>
              </a:xfrm>
              <a:custGeom>
                <a:avLst/>
                <a:gdLst/>
                <a:ahLst/>
                <a:cxnLst/>
                <a:rect l="l" t="t" r="r" b="b"/>
                <a:pathLst>
                  <a:path w="19657" h="118888" fill="none" extrusionOk="0">
                    <a:moveTo>
                      <a:pt x="1" y="118888"/>
                    </a:moveTo>
                    <a:lnTo>
                      <a:pt x="19656" y="0"/>
                    </a:lnTo>
                  </a:path>
                </a:pathLst>
              </a:custGeom>
              <a:noFill/>
              <a:ln w="3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2">
                <a:extLst>
                  <a:ext uri="{FF2B5EF4-FFF2-40B4-BE49-F238E27FC236}">
                    <a16:creationId xmlns:a16="http://schemas.microsoft.com/office/drawing/2014/main" id="{5DE3A88C-3DCC-77EF-DA98-8D8A3978F2D1}"/>
                  </a:ext>
                </a:extLst>
              </p:cNvPr>
              <p:cNvSpPr/>
              <p:nvPr/>
            </p:nvSpPr>
            <p:spPr>
              <a:xfrm rot="5221006">
                <a:off x="2174061" y="828414"/>
                <a:ext cx="960922" cy="5813038"/>
              </a:xfrm>
              <a:custGeom>
                <a:avLst/>
                <a:gdLst/>
                <a:ahLst/>
                <a:cxnLst/>
                <a:rect l="l" t="t" r="r" b="b"/>
                <a:pathLst>
                  <a:path w="19964" h="120771" fill="none" extrusionOk="0">
                    <a:moveTo>
                      <a:pt x="0" y="120771"/>
                    </a:moveTo>
                    <a:lnTo>
                      <a:pt x="19963" y="1"/>
                    </a:lnTo>
                  </a:path>
                </a:pathLst>
              </a:custGeom>
              <a:noFill/>
              <a:ln w="2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2">
                <a:extLst>
                  <a:ext uri="{FF2B5EF4-FFF2-40B4-BE49-F238E27FC236}">
                    <a16:creationId xmlns:a16="http://schemas.microsoft.com/office/drawing/2014/main" id="{8792F368-48E5-B45B-8D24-0D3436AB4762}"/>
                  </a:ext>
                </a:extLst>
              </p:cNvPr>
              <p:cNvSpPr/>
              <p:nvPr/>
            </p:nvSpPr>
            <p:spPr>
              <a:xfrm rot="5221006">
                <a:off x="2155942" y="836851"/>
                <a:ext cx="976324" cy="5903961"/>
              </a:xfrm>
              <a:custGeom>
                <a:avLst/>
                <a:gdLst/>
                <a:ahLst/>
                <a:cxnLst/>
                <a:rect l="l" t="t" r="r" b="b"/>
                <a:pathLst>
                  <a:path w="20284" h="122660" fill="none" extrusionOk="0">
                    <a:moveTo>
                      <a:pt x="1" y="122659"/>
                    </a:moveTo>
                    <a:lnTo>
                      <a:pt x="20284" y="0"/>
                    </a:lnTo>
                  </a:path>
                </a:pathLst>
              </a:custGeom>
              <a:noFill/>
              <a:ln w="2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2">
                <a:extLst>
                  <a:ext uri="{FF2B5EF4-FFF2-40B4-BE49-F238E27FC236}">
                    <a16:creationId xmlns:a16="http://schemas.microsoft.com/office/drawing/2014/main" id="{2B95B11A-7A45-A78F-0658-F79EEA90DA73}"/>
                  </a:ext>
                </a:extLst>
              </p:cNvPr>
              <p:cNvSpPr/>
              <p:nvPr/>
            </p:nvSpPr>
            <p:spPr>
              <a:xfrm rot="5221006">
                <a:off x="2138201" y="845325"/>
                <a:ext cx="991390" cy="5994546"/>
              </a:xfrm>
              <a:custGeom>
                <a:avLst/>
                <a:gdLst/>
                <a:ahLst/>
                <a:cxnLst/>
                <a:rect l="l" t="t" r="r" b="b"/>
                <a:pathLst>
                  <a:path w="20597" h="124542" fill="none" extrusionOk="0">
                    <a:moveTo>
                      <a:pt x="0" y="124542"/>
                    </a:moveTo>
                    <a:lnTo>
                      <a:pt x="20597" y="1"/>
                    </a:lnTo>
                  </a:path>
                </a:pathLst>
              </a:custGeom>
              <a:noFill/>
              <a:ln w="200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2">
                <a:extLst>
                  <a:ext uri="{FF2B5EF4-FFF2-40B4-BE49-F238E27FC236}">
                    <a16:creationId xmlns:a16="http://schemas.microsoft.com/office/drawing/2014/main" id="{79E98A8D-5823-2A77-EB79-F41022D147F8}"/>
                  </a:ext>
                </a:extLst>
              </p:cNvPr>
              <p:cNvSpPr/>
              <p:nvPr/>
            </p:nvSpPr>
            <p:spPr>
              <a:xfrm rot="5221006">
                <a:off x="2120372" y="853760"/>
                <a:ext cx="1006263" cy="6085517"/>
              </a:xfrm>
              <a:custGeom>
                <a:avLst/>
                <a:gdLst/>
                <a:ahLst/>
                <a:cxnLst/>
                <a:rect l="l" t="t" r="r" b="b"/>
                <a:pathLst>
                  <a:path w="20906" h="126432" fill="none" extrusionOk="0">
                    <a:moveTo>
                      <a:pt x="1" y="126431"/>
                    </a:moveTo>
                    <a:lnTo>
                      <a:pt x="20905" y="1"/>
                    </a:lnTo>
                  </a:path>
                </a:pathLst>
              </a:custGeom>
              <a:noFill/>
              <a:ln w="137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2">
                <a:extLst>
                  <a:ext uri="{FF2B5EF4-FFF2-40B4-BE49-F238E27FC236}">
                    <a16:creationId xmlns:a16="http://schemas.microsoft.com/office/drawing/2014/main" id="{1F2B48C7-478A-9E44-AD98-4F75B61C40E3}"/>
                  </a:ext>
                </a:extLst>
              </p:cNvPr>
              <p:cNvSpPr/>
              <p:nvPr/>
            </p:nvSpPr>
            <p:spPr>
              <a:xfrm rot="5221006">
                <a:off x="2102558" y="862212"/>
                <a:ext cx="1021377" cy="6176103"/>
              </a:xfrm>
              <a:custGeom>
                <a:avLst/>
                <a:gdLst/>
                <a:ahLst/>
                <a:cxnLst/>
                <a:rect l="l" t="t" r="r" b="b"/>
                <a:pathLst>
                  <a:path w="21220" h="128314" fill="none" extrusionOk="0">
                    <a:moveTo>
                      <a:pt x="1" y="128313"/>
                    </a:moveTo>
                    <a:lnTo>
                      <a:pt x="21219" y="0"/>
                    </a:lnTo>
                  </a:path>
                </a:pathLst>
              </a:custGeom>
              <a:noFill/>
              <a:ln w="925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2">
                <a:extLst>
                  <a:ext uri="{FF2B5EF4-FFF2-40B4-BE49-F238E27FC236}">
                    <a16:creationId xmlns:a16="http://schemas.microsoft.com/office/drawing/2014/main" id="{9921DBD9-F4B2-A998-935A-0D2F4328E18E}"/>
                  </a:ext>
                </a:extLst>
              </p:cNvPr>
              <p:cNvSpPr/>
              <p:nvPr/>
            </p:nvSpPr>
            <p:spPr>
              <a:xfrm rot="5221006">
                <a:off x="2084649" y="870526"/>
                <a:ext cx="1036442" cy="6267026"/>
              </a:xfrm>
              <a:custGeom>
                <a:avLst/>
                <a:gdLst/>
                <a:ahLst/>
                <a:cxnLst/>
                <a:rect l="l" t="t" r="r" b="b"/>
                <a:pathLst>
                  <a:path w="21533" h="130203" fill="none" extrusionOk="0">
                    <a:moveTo>
                      <a:pt x="0" y="130202"/>
                    </a:moveTo>
                    <a:lnTo>
                      <a:pt x="21532" y="1"/>
                    </a:lnTo>
                  </a:path>
                </a:pathLst>
              </a:custGeom>
              <a:noFill/>
              <a:ln w="450" cap="flat" cmpd="sng">
                <a:solidFill>
                  <a:schemeClr val="lt2"/>
                </a:solidFill>
                <a:prstDash val="solid"/>
                <a:miter lim="615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0" name="Google Shape;290;p32">
              <a:extLst>
                <a:ext uri="{FF2B5EF4-FFF2-40B4-BE49-F238E27FC236}">
                  <a16:creationId xmlns:a16="http://schemas.microsoft.com/office/drawing/2014/main" id="{408CC47C-EB1E-886B-E03C-5E676671389E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54142" b="4115"/>
            <a:stretch/>
          </p:blipFill>
          <p:spPr>
            <a:xfrm>
              <a:off x="0" y="2996450"/>
              <a:ext cx="9144003" cy="2147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2">
              <a:extLst>
                <a:ext uri="{FF2B5EF4-FFF2-40B4-BE49-F238E27FC236}">
                  <a16:creationId xmlns:a16="http://schemas.microsoft.com/office/drawing/2014/main" id="{09E644A6-254A-C990-9986-6F6A6B94C94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622" t="19999" r="35869" b="58253"/>
            <a:stretch/>
          </p:blipFill>
          <p:spPr>
            <a:xfrm>
              <a:off x="0" y="0"/>
              <a:ext cx="4126049" cy="1009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CA0D068-EC80-ACA7-E8EF-8AFBBFF692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627" y="793520"/>
            <a:ext cx="854038" cy="800962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27990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0F6D48F7-554E-05F0-A548-B3461A38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45B219B2-2537-F25C-848B-4F385DA28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418C34-F024-029B-D526-B48489B96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59CB1C-C080-C4A4-6C74-567F64335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E97D54-3195-FD6D-3AC0-4182C3135733}"/>
              </a:ext>
            </a:extLst>
          </p:cNvPr>
          <p:cNvSpPr txBox="1"/>
          <p:nvPr/>
        </p:nvSpPr>
        <p:spPr>
          <a:xfrm>
            <a:off x="882008" y="1150549"/>
            <a:ext cx="7298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CounselDesk successfully integrates legal services, AI assistance, secure payments, and video consultations into one unified platform.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The system streamlines the experience for users, lawyers, and admins, reducing friction in accessing legal help.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With a robust full-stack architecture, automated </a:t>
            </a: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cron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 jobs, secure Stripe payouts, and Gemini-powered AI, the platform ensures reliability, scalability, and modern user experience.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This project demonstrates strong practical implementation of real-world technologies such as React, Node.js, MongoDB, Vercel Serverless, and third-party APIs.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CounselDesk lays a strong foundation for future enhancements like mobile apps, document automation, and AI-driven legal workflows.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Lo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516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7E5C1E52-777D-00B1-24E8-DF3D934C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C668EEAB-4A7A-3941-8D07-4F3F8D7A13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Future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8F3EBC-0B55-EBBF-C37F-561D5C2F1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714C53-4934-8963-4F22-40E4C928B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3C4D2D-7190-1C60-11B1-FE389F312C4C}"/>
              </a:ext>
            </a:extLst>
          </p:cNvPr>
          <p:cNvSpPr txBox="1"/>
          <p:nvPr/>
        </p:nvSpPr>
        <p:spPr>
          <a:xfrm>
            <a:off x="882008" y="1150549"/>
            <a:ext cx="7298028" cy="310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AI Legal Drafting: Automated drafting of legal notices, agreements, and summaries using advanced Gemini models.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Real-Time Chat &amp; Notifications: In-app chat between clients and lawyers with instant push notifications.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Advanced Analytics Dashboard: Detailed insights for lawyers and admins—earnings trends, client engagement, performance metrics.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Document Automation &amp; E-Signatures: Upload, fill, sign, and store legal documents securely.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Multi-Language Support: Regional language support for wider accessibility across India.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Expanded Legal Code Database: Full normative, state laws, and case-law search powered by AI.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Wingdings" panose="05000000000000000000" pitchFamily="2" charset="2"/>
              <a:buChar char="§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Integration with Government APIs: e-Courts, </a:t>
            </a: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DigiLocker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, and Bar Council verification for trusted onboarding.</a:t>
            </a:r>
          </a:p>
        </p:txBody>
      </p:sp>
    </p:spTree>
    <p:extLst>
      <p:ext uri="{BB962C8B-B14F-4D97-AF65-F5344CB8AC3E}">
        <p14:creationId xmlns:p14="http://schemas.microsoft.com/office/powerpoint/2010/main" val="1563456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44DF7CBF-227A-F17D-DEBC-FFF6CDC4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DBA0B47B-9616-C19C-B1D2-55A388AEE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References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451D9B-07BD-9750-661F-885213DF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A3356E-AC24-34FC-611D-26AB88C8D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F532AC-0C9D-B054-4D34-C34A30B0E54D}"/>
              </a:ext>
            </a:extLst>
          </p:cNvPr>
          <p:cNvSpPr txBox="1"/>
          <p:nvPr/>
        </p:nvSpPr>
        <p:spPr>
          <a:xfrm>
            <a:off x="922986" y="1150549"/>
            <a:ext cx="72980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Brown, E., Web Development with Node and Express: Leveraging the JavaScript Stack, 2nd ed. O'Reilly Media, 2019.​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Banks, A. and Porcello, E., Learning React: Modern Patterns for Developing React Apps, 2nd ed. O'Reilly Media, 2020.​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Sommerville, I., Software Engineering, 10th ed. Pearson Education, 2016.​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Pressman, R. S. and Maxim, B. R., Software Engineering: A Practitioner's Approach, 9th ed. McGraw-Hill Education, 2020.​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Fowler, M., Patterns of Enterprise Application Architecture. Addison-Wesley Professional, 2002.​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Susskind, R., Online Courts and the Future of Justice. Oxford University Press, 2019.​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Newman, S., Building Microservices: Designing Fine-Grained Systems, 2nd ed. O'Reilly Media, 2021.​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Alarie, B., Niblett, A., and Yoon, A. H., "How Artificial Intelligence Will Affect the Practice of Law," University of Toronto Law Journal, vol. 68, no. 1, pp. 106-124, 2018.​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 err="1">
                <a:solidFill>
                  <a:schemeClr val="tx1"/>
                </a:solidFill>
                <a:latin typeface="Lora Medium" pitchFamily="2" charset="0"/>
              </a:rPr>
              <a:t>Surden</a:t>
            </a: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, H., "Machine Learning and Law," Washington Law Review, vol. 89, no. 1, pp. 87-115, 2014.​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D2AF74"/>
              </a:buClr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Lora Medium" pitchFamily="2" charset="0"/>
              </a:rPr>
              <a:t>Remus, D. and Levy, F. S., "Can Robots Be Lawyers? Computers, Lawyers, and the Practice of Law," Georgetown Journal of Legal Ethics, vol. 30, no. 3, pp. 501-558, 2017.​</a:t>
            </a:r>
          </a:p>
        </p:txBody>
      </p:sp>
    </p:spTree>
    <p:extLst>
      <p:ext uri="{BB962C8B-B14F-4D97-AF65-F5344CB8AC3E}">
        <p14:creationId xmlns:p14="http://schemas.microsoft.com/office/powerpoint/2010/main" val="142272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785DC0C8-0D3D-D0C1-AA27-BA063D88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>
            <a:extLst>
              <a:ext uri="{FF2B5EF4-FFF2-40B4-BE49-F238E27FC236}">
                <a16:creationId xmlns:a16="http://schemas.microsoft.com/office/drawing/2014/main" id="{D1BECED3-68A6-996E-3E6B-80A49CB65A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014" y="564395"/>
            <a:ext cx="7704000" cy="48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rgbClr val="F4DFB7"/>
                </a:solidFill>
              </a:rPr>
              <a:t>Live Demo &amp; Links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649DC7-F985-1F7B-A784-01326A228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0" y="460941"/>
            <a:ext cx="672619" cy="630818"/>
          </a:xfrm>
          <a:prstGeom prst="ellipse">
            <a:avLst/>
          </a:prstGeom>
          <a:ln w="3175" cap="rnd">
            <a:solidFill>
              <a:schemeClr val="bg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86615-F244-8C4C-2798-FF3183C76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082" y="545027"/>
            <a:ext cx="1403909" cy="53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E558B-9F06-C582-C9EF-DF09CFCE7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464" y="1150549"/>
            <a:ext cx="3262425" cy="3262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3E84F3-F7B0-ED5B-6ADC-775ADAB81E44}"/>
              </a:ext>
            </a:extLst>
          </p:cNvPr>
          <p:cNvSpPr txBox="1"/>
          <p:nvPr/>
        </p:nvSpPr>
        <p:spPr>
          <a:xfrm>
            <a:off x="1550505" y="4516428"/>
            <a:ext cx="23125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4DFB7"/>
                </a:solidFill>
                <a:latin typeface="Lora Medium" pitchFamily="2" charset="0"/>
              </a:rPr>
              <a:t>Scan to open the Live Project</a:t>
            </a:r>
            <a:endParaRPr lang="en-IN" sz="1200" dirty="0">
              <a:solidFill>
                <a:srgbClr val="F4DFB7"/>
              </a:solidFill>
              <a:latin typeface="Lora Medium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9AC49-1AAD-6631-9752-F6A944CFCE90}"/>
              </a:ext>
            </a:extLst>
          </p:cNvPr>
          <p:cNvSpPr txBox="1"/>
          <p:nvPr/>
        </p:nvSpPr>
        <p:spPr>
          <a:xfrm>
            <a:off x="4505739" y="1858648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4DFB7"/>
                </a:solidFill>
                <a:latin typeface="Lora Medium" pitchFamily="2" charset="0"/>
              </a:rPr>
              <a:t>Live Project:</a:t>
            </a:r>
          </a:p>
          <a:p>
            <a:r>
              <a:rPr lang="en-IN" sz="2000" dirty="0">
                <a:solidFill>
                  <a:srgbClr val="0097A7"/>
                </a:solidFill>
                <a:latin typeface="Lora Medium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https://counsel-desk.vercel.app</a:t>
            </a:r>
            <a:endParaRPr lang="en-IN" sz="2000" dirty="0">
              <a:solidFill>
                <a:srgbClr val="0097A7"/>
              </a:solidFill>
              <a:latin typeface="Lora Medium" pitchFamily="2" charset="0"/>
            </a:endParaRPr>
          </a:p>
          <a:p>
            <a:endParaRPr lang="en-IN" sz="2000" dirty="0">
              <a:solidFill>
                <a:srgbClr val="F4DFB7"/>
              </a:solidFill>
              <a:latin typeface="Lora Medium" pitchFamily="2" charset="0"/>
            </a:endParaRPr>
          </a:p>
          <a:p>
            <a:r>
              <a:rPr lang="en-IN" sz="2000" dirty="0">
                <a:solidFill>
                  <a:srgbClr val="F4DFB7"/>
                </a:solidFill>
                <a:latin typeface="Lora Medium" pitchFamily="2" charset="0"/>
              </a:rPr>
              <a:t>GitHub Code:</a:t>
            </a:r>
          </a:p>
          <a:p>
            <a:r>
              <a:rPr lang="en-IN" sz="2000" dirty="0">
                <a:solidFill>
                  <a:srgbClr val="0097A7"/>
                </a:solidFill>
                <a:latin typeface="Lora Medium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https://github.com/Aayush6377/CounselDesk</a:t>
            </a:r>
            <a:r>
              <a:rPr lang="en-IN" sz="2000" dirty="0">
                <a:solidFill>
                  <a:srgbClr val="0097A7"/>
                </a:solidFill>
                <a:latin typeface="Lora Medium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5247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9794F82F-F019-0F93-3E04-6F939773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>
            <a:extLst>
              <a:ext uri="{FF2B5EF4-FFF2-40B4-BE49-F238E27FC236}">
                <a16:creationId xmlns:a16="http://schemas.microsoft.com/office/drawing/2014/main" id="{C35DF0A9-5866-DFC5-EF12-07FED52BAB3C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/>
          <a:stretch/>
        </p:blipFill>
        <p:spPr>
          <a:xfrm>
            <a:off x="0" y="0"/>
            <a:ext cx="4076700" cy="5143500"/>
          </a:xfrm>
          <a:prstGeom prst="rect">
            <a:avLst/>
          </a:prstGeom>
        </p:spPr>
      </p:pic>
      <p:sp>
        <p:nvSpPr>
          <p:cNvPr id="274" name="Google Shape;274;p32">
            <a:extLst>
              <a:ext uri="{FF2B5EF4-FFF2-40B4-BE49-F238E27FC236}">
                <a16:creationId xmlns:a16="http://schemas.microsoft.com/office/drawing/2014/main" id="{63A52CE0-401F-1338-9383-67B9D950D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701" y="1943200"/>
            <a:ext cx="4184346" cy="888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800" dirty="0">
                <a:solidFill>
                  <a:srgbClr val="D2AF74"/>
                </a:solidFill>
              </a:rPr>
              <a:t>THANK YOU</a:t>
            </a:r>
            <a:endParaRPr sz="4800" dirty="0">
              <a:solidFill>
                <a:srgbClr val="D2AF74"/>
              </a:solidFill>
            </a:endParaRPr>
          </a:p>
        </p:txBody>
      </p:sp>
      <p:pic>
        <p:nvPicPr>
          <p:cNvPr id="671" name="Google Shape;671;p48"/>
          <p:cNvPicPr preferRelativeResize="0"/>
          <p:nvPr/>
        </p:nvPicPr>
        <p:blipFill rotWithShape="1">
          <a:blip r:embed="rId4">
            <a:alphaModFix/>
          </a:blip>
          <a:srcRect l="32561" t="46251" r="18991" b="6859"/>
          <a:stretch/>
        </p:blipFill>
        <p:spPr>
          <a:xfrm flipH="1">
            <a:off x="6848" y="3278250"/>
            <a:ext cx="4069852" cy="1865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669;p48">
            <a:extLst>
              <a:ext uri="{FF2B5EF4-FFF2-40B4-BE49-F238E27FC236}">
                <a16:creationId xmlns:a16="http://schemas.microsoft.com/office/drawing/2014/main" id="{EEB5A400-E13B-1D55-EF20-D6A67FD0D8A7}"/>
              </a:ext>
            </a:extLst>
          </p:cNvPr>
          <p:cNvGrpSpPr/>
          <p:nvPr/>
        </p:nvGrpSpPr>
        <p:grpSpPr>
          <a:xfrm>
            <a:off x="6852" y="0"/>
            <a:ext cx="4076698" cy="5143500"/>
            <a:chOff x="6852" y="0"/>
            <a:chExt cx="4076698" cy="5143500"/>
          </a:xfrm>
        </p:grpSpPr>
        <p:pic>
          <p:nvPicPr>
            <p:cNvPr id="9" name="Google Shape;670;p48">
              <a:extLst>
                <a:ext uri="{FF2B5EF4-FFF2-40B4-BE49-F238E27FC236}">
                  <a16:creationId xmlns:a16="http://schemas.microsoft.com/office/drawing/2014/main" id="{CB64BCE5-431B-76EF-EA6C-D0AB14001E6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7606" t="31291" r="55415" b="14156"/>
            <a:stretch/>
          </p:blipFill>
          <p:spPr>
            <a:xfrm flipH="1">
              <a:off x="6852" y="2821800"/>
              <a:ext cx="4076698" cy="232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672;p48">
              <a:extLst>
                <a:ext uri="{FF2B5EF4-FFF2-40B4-BE49-F238E27FC236}">
                  <a16:creationId xmlns:a16="http://schemas.microsoft.com/office/drawing/2014/main" id="{2220CD4E-5369-6DC0-7CF8-5F1A342157FE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232" t="23213" r="44093" b="58104"/>
            <a:stretch/>
          </p:blipFill>
          <p:spPr>
            <a:xfrm>
              <a:off x="8336" y="0"/>
              <a:ext cx="4060027" cy="11895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" name="Google Shape;276;p32">
            <a:extLst>
              <a:ext uri="{FF2B5EF4-FFF2-40B4-BE49-F238E27FC236}">
                <a16:creationId xmlns:a16="http://schemas.microsoft.com/office/drawing/2014/main" id="{DCE53394-1B58-F193-49EF-EB28E025FFA6}"/>
              </a:ext>
            </a:extLst>
          </p:cNvPr>
          <p:cNvCxnSpPr>
            <a:cxnSpLocks/>
          </p:cNvCxnSpPr>
          <p:nvPr/>
        </p:nvCxnSpPr>
        <p:spPr>
          <a:xfrm>
            <a:off x="4572000" y="2762022"/>
            <a:ext cx="383650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EBAB7F-3D30-F75F-D182-CD93EB339CF7}"/>
              </a:ext>
            </a:extLst>
          </p:cNvPr>
          <p:cNvSpPr txBox="1"/>
          <p:nvPr/>
        </p:nvSpPr>
        <p:spPr>
          <a:xfrm>
            <a:off x="5012634" y="2831910"/>
            <a:ext cx="29552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Lora Medium" pitchFamily="2" charset="0"/>
              </a:rPr>
              <a:t>Do you have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39783864"/>
      </p:ext>
    </p:extLst>
  </p:cSld>
  <p:clrMapOvr>
    <a:masterClrMapping/>
  </p:clrMapOvr>
</p:sld>
</file>

<file path=ppt/theme/theme1.xml><?xml version="1.0" encoding="utf-8"?>
<a:theme xmlns:a="http://schemas.openxmlformats.org/drawingml/2006/main" name="Legal Services Agency by Slidesgo">
  <a:themeElements>
    <a:clrScheme name="Simple Light">
      <a:dk1>
        <a:srgbClr val="FFFFFF"/>
      </a:dk1>
      <a:lt1>
        <a:srgbClr val="002034"/>
      </a:lt1>
      <a:dk2>
        <a:srgbClr val="F2C67E"/>
      </a:dk2>
      <a:lt2>
        <a:srgbClr val="C08515"/>
      </a:lt2>
      <a:accent1>
        <a:srgbClr val="033C4D"/>
      </a:accent1>
      <a:accent2>
        <a:srgbClr val="00092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2438</Words>
  <Application>Microsoft Office PowerPoint</Application>
  <PresentationFormat>On-screen Show (16:9)</PresentationFormat>
  <Paragraphs>375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Wingdings</vt:lpstr>
      <vt:lpstr>Arial</vt:lpstr>
      <vt:lpstr>Lora Medium</vt:lpstr>
      <vt:lpstr>Montserrat SemiBold</vt:lpstr>
      <vt:lpstr>Lora</vt:lpstr>
      <vt:lpstr>Open Sans Light</vt:lpstr>
      <vt:lpstr>Montserrat</vt:lpstr>
      <vt:lpstr>Legal Services Agency by Slidesgo</vt:lpstr>
      <vt:lpstr>CounselDesk</vt:lpstr>
      <vt:lpstr>PowerPoint Presentation</vt:lpstr>
      <vt:lpstr>TABLE OF CONTENTS</vt:lpstr>
      <vt:lpstr>Introduction</vt:lpstr>
      <vt:lpstr>Overview</vt:lpstr>
      <vt:lpstr>Problem Statement &amp; Objective</vt:lpstr>
      <vt:lpstr>Proposed Solution</vt:lpstr>
      <vt:lpstr>System Architecture</vt:lpstr>
      <vt:lpstr>User Experience</vt:lpstr>
      <vt:lpstr>The Client Experience (User)</vt:lpstr>
      <vt:lpstr>The Professional Experience (Lawyer)</vt:lpstr>
      <vt:lpstr>The AI-Powered Core</vt:lpstr>
      <vt:lpstr>Technology &amp; Architecture Deep Dive</vt:lpstr>
      <vt:lpstr>The Technology Stack</vt:lpstr>
      <vt:lpstr>The Technology Stack</vt:lpstr>
      <vt:lpstr>Data Model</vt:lpstr>
      <vt:lpstr>Data Model</vt:lpstr>
      <vt:lpstr>API Request Flow</vt:lpstr>
      <vt:lpstr>Core Workflow Analysis</vt:lpstr>
      <vt:lpstr>Appointment Booking</vt:lpstr>
      <vt:lpstr>Appointment Booking</vt:lpstr>
      <vt:lpstr>Stripe Payment Flow</vt:lpstr>
      <vt:lpstr>Stripe Payment Flow</vt:lpstr>
      <vt:lpstr>Deployment &amp; Project Management</vt:lpstr>
      <vt:lpstr>CI/CD Pipeline</vt:lpstr>
      <vt:lpstr>Automation: Cron Jobs</vt:lpstr>
      <vt:lpstr>Conclusion &amp; Future Scope</vt:lpstr>
      <vt:lpstr>Conclusion</vt:lpstr>
      <vt:lpstr>Future Scope</vt:lpstr>
      <vt:lpstr>References</vt:lpstr>
      <vt:lpstr>Live Demo &amp; 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Aayush Kukreja</dc:creator>
  <cp:lastModifiedBy>Aayush Kukreja</cp:lastModifiedBy>
  <cp:revision>9</cp:revision>
  <dcterms:modified xsi:type="dcterms:W3CDTF">2025-11-13T22:16:20Z</dcterms:modified>
</cp:coreProperties>
</file>